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65" r:id="rId5"/>
    <p:sldId id="262" r:id="rId6"/>
    <p:sldId id="263" r:id="rId7"/>
    <p:sldId id="264" r:id="rId8"/>
    <p:sldId id="266" r:id="rId9"/>
    <p:sldId id="267" r:id="rId10"/>
    <p:sldId id="268" r:id="rId11"/>
    <p:sldId id="269" r:id="rId12"/>
    <p:sldId id="260" r:id="rId13"/>
    <p:sldId id="270" r:id="rId14"/>
    <p:sldId id="271"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91" autoAdjust="0"/>
    <p:restoredTop sz="94660"/>
  </p:normalViewPr>
  <p:slideViewPr>
    <p:cSldViewPr snapToGrid="0">
      <p:cViewPr varScale="1">
        <p:scale>
          <a:sx n="80" d="100"/>
          <a:sy n="80" d="100"/>
        </p:scale>
        <p:origin x="10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B3157A-EB5E-4B8E-966D-B6085229ADE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1653B94-1F2B-4877-A047-4478C73296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D1D628-94A0-48F1-AE63-49C2B53E9B6C}"/>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5" name="页脚占位符 4">
            <a:extLst>
              <a:ext uri="{FF2B5EF4-FFF2-40B4-BE49-F238E27FC236}">
                <a16:creationId xmlns:a16="http://schemas.microsoft.com/office/drawing/2014/main" id="{C5D24AC7-38B2-46B3-93D6-66B39FD802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725945-FF86-4721-855B-6B8C6A075747}"/>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540446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E55462-BBF1-4E32-BF4C-C92455E1B1C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721D37D-0A68-4EE3-BC56-88841EA4F4A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95F654B-F77D-4F82-8F19-CBFD1AC677C1}"/>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5" name="页脚占位符 4">
            <a:extLst>
              <a:ext uri="{FF2B5EF4-FFF2-40B4-BE49-F238E27FC236}">
                <a16:creationId xmlns:a16="http://schemas.microsoft.com/office/drawing/2014/main" id="{FC0A0AA9-0229-4841-84AA-04E19F9CA4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3BF377-1BB4-43C5-9731-1EE67C22FB14}"/>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500220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42EBFF-7F7F-41DA-B531-3670C802389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4539BBC-8777-450A-9618-93F4C32E58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2BD32A71-BEB6-46E8-83F0-F7CFFC3F59AB}"/>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5" name="页脚占位符 4">
            <a:extLst>
              <a:ext uri="{FF2B5EF4-FFF2-40B4-BE49-F238E27FC236}">
                <a16:creationId xmlns:a16="http://schemas.microsoft.com/office/drawing/2014/main" id="{432760E9-07F6-4A8B-A81C-C3213BCFF0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7AC9A5-604A-42E2-84CD-B1848C44DCA6}"/>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3840945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A525A8-AE53-4D75-B64C-F815C627604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1B3DCA2-D317-4CC8-A0D3-77543DF51E82}"/>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105F9600-2F6E-457B-B57E-C41F6B5C39C0}"/>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8E521B8-2D70-4FDD-A942-9D1237155E24}"/>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6" name="页脚占位符 5">
            <a:extLst>
              <a:ext uri="{FF2B5EF4-FFF2-40B4-BE49-F238E27FC236}">
                <a16:creationId xmlns:a16="http://schemas.microsoft.com/office/drawing/2014/main" id="{90BDB029-E38C-4F9F-9565-5BAE6024F9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FB23C6-1F7D-44AF-8128-1BE4B8F54CDA}"/>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198696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67B85C-7C35-4298-BBE5-2518D889FF0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CCCBB54-E47C-409B-A86D-3910510760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B85E8BBA-31EF-4A25-8D25-47B0142A6DF0}"/>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97D3726-34BB-4778-B268-E41F562B7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34135476-6888-43F7-B5F2-FEA99570CED2}"/>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C25A928A-240C-4FCC-871C-937B88FFD550}"/>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8" name="页脚占位符 7">
            <a:extLst>
              <a:ext uri="{FF2B5EF4-FFF2-40B4-BE49-F238E27FC236}">
                <a16:creationId xmlns:a16="http://schemas.microsoft.com/office/drawing/2014/main" id="{0BAB399C-4D96-499B-9870-56AFDC6C439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74187D-A7BE-415B-9FCB-E69E5BC17D0E}"/>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3432022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CA1AA-A193-4419-B73E-26AEB1B80A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C81E7AE-789F-4F03-BEEE-139518745D2D}"/>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4" name="页脚占位符 3">
            <a:extLst>
              <a:ext uri="{FF2B5EF4-FFF2-40B4-BE49-F238E27FC236}">
                <a16:creationId xmlns:a16="http://schemas.microsoft.com/office/drawing/2014/main" id="{0BE3AC8C-7DC3-4606-BA1F-994DD88D752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A0B0075-CCD2-4070-91B8-CE1AB420EF85}"/>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4150033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839B1DE-DE16-49E3-AA92-09CEC6CC219B}"/>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3" name="页脚占位符 2">
            <a:extLst>
              <a:ext uri="{FF2B5EF4-FFF2-40B4-BE49-F238E27FC236}">
                <a16:creationId xmlns:a16="http://schemas.microsoft.com/office/drawing/2014/main" id="{4271D5EB-8DBF-4640-86B7-28EE1F46F51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FD941F1-05B9-4200-B178-6EC497431581}"/>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3982583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9C667-B6E5-454C-81DD-0B6292409E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6584806-32CD-40CB-BD39-721E1A8576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D0625D5-81A0-4550-90DE-AD871D729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A9E0C98-EAEE-4340-B35F-083B626FF54F}"/>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6" name="页脚占位符 5">
            <a:extLst>
              <a:ext uri="{FF2B5EF4-FFF2-40B4-BE49-F238E27FC236}">
                <a16:creationId xmlns:a16="http://schemas.microsoft.com/office/drawing/2014/main" id="{2860B142-1092-4CE9-94D6-371B860CA5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EE889A8-54C6-417B-B799-6059620939E1}"/>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3125724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F9B749-0B5F-41DD-A5E9-36EB9D1431E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7199705-39B5-4A44-9B64-D718625180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2DEE3F5-7208-49B0-9FA1-FC5E0B720A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D71D4B46-1CCE-42E0-AC62-612F19748344}"/>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6" name="页脚占位符 5">
            <a:extLst>
              <a:ext uri="{FF2B5EF4-FFF2-40B4-BE49-F238E27FC236}">
                <a16:creationId xmlns:a16="http://schemas.microsoft.com/office/drawing/2014/main" id="{CBC34110-C0EB-4587-A65B-D37C4D5640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3C70B4-F580-4BBC-B31B-EC45F975EB52}"/>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4060082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1BDCB6-CB04-4B19-81A5-3C75DB8B086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ECAB402-DE00-4C65-8618-4EDB3CF8743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F5F4F3D-47B2-40EC-8C11-576B527E4E94}"/>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5" name="页脚占位符 4">
            <a:extLst>
              <a:ext uri="{FF2B5EF4-FFF2-40B4-BE49-F238E27FC236}">
                <a16:creationId xmlns:a16="http://schemas.microsoft.com/office/drawing/2014/main" id="{B301D6AB-B990-492A-AB12-0D280B2577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86F016-0B96-45A4-80E0-D189D518985F}"/>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163435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A5600D-BDCA-4FA8-8033-E658B30432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BB1659B-1419-4144-AABD-E617DD7DC14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B89E7ED-EF44-4AD1-9827-8F4DB2DE91A0}"/>
              </a:ext>
            </a:extLst>
          </p:cNvPr>
          <p:cNvSpPr>
            <a:spLocks noGrp="1"/>
          </p:cNvSpPr>
          <p:nvPr>
            <p:ph type="dt" sz="half" idx="10"/>
          </p:nvPr>
        </p:nvSpPr>
        <p:spPr/>
        <p:txBody>
          <a:bodyPr/>
          <a:lstStyle/>
          <a:p>
            <a:fld id="{1FA3A82D-FDC6-4AF0-9CE4-50B3E5D6F614}" type="datetimeFigureOut">
              <a:rPr lang="zh-CN" altLang="en-US" smtClean="0"/>
              <a:t>2019/2/25</a:t>
            </a:fld>
            <a:endParaRPr lang="zh-CN" altLang="en-US"/>
          </a:p>
        </p:txBody>
      </p:sp>
      <p:sp>
        <p:nvSpPr>
          <p:cNvPr id="5" name="页脚占位符 4">
            <a:extLst>
              <a:ext uri="{FF2B5EF4-FFF2-40B4-BE49-F238E27FC236}">
                <a16:creationId xmlns:a16="http://schemas.microsoft.com/office/drawing/2014/main" id="{288F3C74-AF46-407D-A5B3-A130389527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304A1D-7AC5-430F-A9DC-7EB4DA4B41DD}"/>
              </a:ext>
            </a:extLst>
          </p:cNvPr>
          <p:cNvSpPr>
            <a:spLocks noGrp="1"/>
          </p:cNvSpPr>
          <p:nvPr>
            <p:ph type="sldNum" sz="quarter" idx="12"/>
          </p:nvPr>
        </p:nvSpPr>
        <p:spPr/>
        <p:txBody>
          <a:body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846874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52B018C-89A5-4EB7-9A32-C7FF38D131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A455942-843B-45A0-A856-8B94F6CE6F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77CDAA3-30C4-4D9D-BC2A-E4A1962F55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A3A82D-FDC6-4AF0-9CE4-50B3E5D6F614}" type="datetimeFigureOut">
              <a:rPr lang="zh-CN" altLang="en-US" smtClean="0"/>
              <a:t>2019/2/25</a:t>
            </a:fld>
            <a:endParaRPr lang="zh-CN" altLang="en-US"/>
          </a:p>
        </p:txBody>
      </p:sp>
      <p:sp>
        <p:nvSpPr>
          <p:cNvPr id="5" name="页脚占位符 4">
            <a:extLst>
              <a:ext uri="{FF2B5EF4-FFF2-40B4-BE49-F238E27FC236}">
                <a16:creationId xmlns:a16="http://schemas.microsoft.com/office/drawing/2014/main" id="{2C52239E-3CDC-43E9-8FFA-166E2DC20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799B792-FFCC-40E3-B71D-2367593279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66B7E9-099E-476F-A854-2E3C3E4804E3}" type="slidenum">
              <a:rPr lang="zh-CN" altLang="en-US" smtClean="0"/>
              <a:t>‹#›</a:t>
            </a:fld>
            <a:endParaRPr lang="zh-CN" altLang="en-US"/>
          </a:p>
        </p:txBody>
      </p:sp>
    </p:spTree>
    <p:extLst>
      <p:ext uri="{BB962C8B-B14F-4D97-AF65-F5344CB8AC3E}">
        <p14:creationId xmlns:p14="http://schemas.microsoft.com/office/powerpoint/2010/main" val="2524733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A3E8913-4CB4-4340-A5A7-923D2A1F0AE7}"/>
              </a:ext>
            </a:extLst>
          </p:cNvPr>
          <p:cNvSpPr txBox="1"/>
          <p:nvPr/>
        </p:nvSpPr>
        <p:spPr>
          <a:xfrm>
            <a:off x="1253066" y="1151467"/>
            <a:ext cx="9685867" cy="523220"/>
          </a:xfrm>
          <a:prstGeom prst="rect">
            <a:avLst/>
          </a:prstGeom>
          <a:noFill/>
        </p:spPr>
        <p:txBody>
          <a:bodyPr wrap="square" rtlCol="0">
            <a:spAutoFit/>
          </a:bodyPr>
          <a:lstStyle/>
          <a:p>
            <a:r>
              <a:rPr lang="zh-CN" altLang="en-US" sz="2800" dirty="0"/>
              <a:t>基于多特征融合等度量映射降维的植物叶片分类方法研究</a:t>
            </a:r>
          </a:p>
        </p:txBody>
      </p:sp>
      <p:sp>
        <p:nvSpPr>
          <p:cNvPr id="8" name="文本框 7">
            <a:extLst>
              <a:ext uri="{FF2B5EF4-FFF2-40B4-BE49-F238E27FC236}">
                <a16:creationId xmlns:a16="http://schemas.microsoft.com/office/drawing/2014/main" id="{E0FA7229-4E6E-4115-9570-F9A30B79E14B}"/>
              </a:ext>
            </a:extLst>
          </p:cNvPr>
          <p:cNvSpPr txBox="1"/>
          <p:nvPr/>
        </p:nvSpPr>
        <p:spPr>
          <a:xfrm>
            <a:off x="5746045" y="2873024"/>
            <a:ext cx="5881512" cy="369332"/>
          </a:xfrm>
          <a:prstGeom prst="rect">
            <a:avLst/>
          </a:prstGeom>
          <a:noFill/>
        </p:spPr>
        <p:txBody>
          <a:bodyPr wrap="square" rtlCol="0">
            <a:spAutoFit/>
          </a:bodyPr>
          <a:lstStyle/>
          <a:p>
            <a:r>
              <a:rPr lang="zh-CN" altLang="en-US" dirty="0"/>
              <a:t>关键词：多特征融合，等度量映射，支持向量机</a:t>
            </a:r>
          </a:p>
        </p:txBody>
      </p:sp>
    </p:spTree>
    <p:extLst>
      <p:ext uri="{BB962C8B-B14F-4D97-AF65-F5344CB8AC3E}">
        <p14:creationId xmlns:p14="http://schemas.microsoft.com/office/powerpoint/2010/main" val="270889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A3E8913-4CB4-4340-A5A7-923D2A1F0AE7}"/>
              </a:ext>
            </a:extLst>
          </p:cNvPr>
          <p:cNvSpPr txBox="1"/>
          <p:nvPr/>
        </p:nvSpPr>
        <p:spPr>
          <a:xfrm>
            <a:off x="304799" y="395111"/>
            <a:ext cx="2641601" cy="461665"/>
          </a:xfrm>
          <a:prstGeom prst="rect">
            <a:avLst/>
          </a:prstGeom>
          <a:noFill/>
        </p:spPr>
        <p:txBody>
          <a:bodyPr wrap="square" rtlCol="0">
            <a:spAutoFit/>
          </a:bodyPr>
          <a:lstStyle/>
          <a:p>
            <a:r>
              <a:rPr lang="zh-CN" altLang="en-US" sz="2400" dirty="0"/>
              <a:t>数据来源以及获取</a:t>
            </a:r>
          </a:p>
        </p:txBody>
      </p:sp>
      <p:sp>
        <p:nvSpPr>
          <p:cNvPr id="2" name="文本框 1">
            <a:extLst>
              <a:ext uri="{FF2B5EF4-FFF2-40B4-BE49-F238E27FC236}">
                <a16:creationId xmlns:a16="http://schemas.microsoft.com/office/drawing/2014/main" id="{270E9E33-F48C-4CEB-A503-92B512ECE649}"/>
              </a:ext>
            </a:extLst>
          </p:cNvPr>
          <p:cNvSpPr txBox="1"/>
          <p:nvPr/>
        </p:nvSpPr>
        <p:spPr>
          <a:xfrm>
            <a:off x="259642" y="1151467"/>
            <a:ext cx="6175025" cy="2862322"/>
          </a:xfrm>
          <a:prstGeom prst="rect">
            <a:avLst/>
          </a:prstGeom>
          <a:noFill/>
        </p:spPr>
        <p:txBody>
          <a:bodyPr wrap="square" rtlCol="0">
            <a:spAutoFit/>
          </a:bodyPr>
          <a:lstStyle/>
          <a:p>
            <a:r>
              <a:rPr lang="zh-CN" altLang="en-US" dirty="0"/>
              <a:t>数据来源主要是来自：</a:t>
            </a:r>
            <a:endParaRPr lang="en-US" altLang="zh-CN" dirty="0"/>
          </a:p>
          <a:p>
            <a:r>
              <a:rPr lang="en-US" altLang="zh-CN" dirty="0"/>
              <a:t>1</a:t>
            </a:r>
            <a:r>
              <a:rPr lang="zh-CN" altLang="en-US" dirty="0"/>
              <a:t>：公开数据集</a:t>
            </a:r>
            <a:r>
              <a:rPr lang="en-US" altLang="zh-CN" dirty="0"/>
              <a:t>Swedish</a:t>
            </a:r>
            <a:r>
              <a:rPr lang="zh-CN" altLang="en-US" dirty="0"/>
              <a:t>数据集有</a:t>
            </a:r>
            <a:r>
              <a:rPr lang="en-US" altLang="zh-CN" dirty="0"/>
              <a:t>15</a:t>
            </a:r>
            <a:r>
              <a:rPr lang="zh-CN" altLang="en-US" dirty="0"/>
              <a:t>个种类，每类</a:t>
            </a:r>
            <a:r>
              <a:rPr lang="en-US" altLang="zh-CN" dirty="0"/>
              <a:t>75</a:t>
            </a:r>
            <a:r>
              <a:rPr lang="zh-CN" altLang="en-US" dirty="0"/>
              <a:t>张图像</a:t>
            </a:r>
            <a:br>
              <a:rPr lang="zh-CN" altLang="en-US" dirty="0"/>
            </a:br>
            <a:endParaRPr lang="zh-CN" altLang="en-US" dirty="0"/>
          </a:p>
          <a:p>
            <a:r>
              <a:rPr lang="en-US" altLang="zh-CN" dirty="0"/>
              <a:t>2</a:t>
            </a:r>
            <a:r>
              <a:rPr lang="zh-CN" altLang="en-US" dirty="0"/>
              <a:t>：公开数据集</a:t>
            </a:r>
            <a:r>
              <a:rPr lang="en-US" altLang="zh-CN" dirty="0"/>
              <a:t>Flavia</a:t>
            </a:r>
            <a:r>
              <a:rPr lang="zh-CN" altLang="en-US" dirty="0"/>
              <a:t>数据集</a:t>
            </a:r>
            <a:r>
              <a:rPr lang="en-US" altLang="zh-CN" dirty="0"/>
              <a:t>Flavia</a:t>
            </a:r>
            <a:r>
              <a:rPr lang="zh-CN" altLang="en-US" dirty="0"/>
              <a:t>一共</a:t>
            </a:r>
            <a:r>
              <a:rPr lang="en-US" altLang="zh-CN" dirty="0"/>
              <a:t>32</a:t>
            </a:r>
            <a:r>
              <a:rPr lang="zh-CN" altLang="en-US" dirty="0"/>
              <a:t>类，每类叶片</a:t>
            </a:r>
            <a:r>
              <a:rPr lang="en-US" altLang="zh-CN" dirty="0"/>
              <a:t>50-77</a:t>
            </a:r>
            <a:r>
              <a:rPr lang="zh-CN" altLang="en-US" dirty="0"/>
              <a:t>不等</a:t>
            </a:r>
            <a:endParaRPr lang="en-US" altLang="zh-CN" dirty="0"/>
          </a:p>
          <a:p>
            <a:endParaRPr lang="zh-CN" altLang="en-US" dirty="0"/>
          </a:p>
          <a:p>
            <a:r>
              <a:rPr lang="en-US" altLang="zh-CN" dirty="0"/>
              <a:t> 3</a:t>
            </a:r>
            <a:r>
              <a:rPr lang="zh-CN" altLang="en-US" dirty="0"/>
              <a:t>：用</a:t>
            </a:r>
            <a:r>
              <a:rPr lang="en-US" altLang="zh-CN" dirty="0"/>
              <a:t>python</a:t>
            </a:r>
            <a:r>
              <a:rPr lang="zh-CN" altLang="en-US" dirty="0"/>
              <a:t>爬虫爬取网站的图片</a:t>
            </a:r>
            <a:endParaRPr lang="en-US" altLang="zh-CN" dirty="0"/>
          </a:p>
          <a:p>
            <a:r>
              <a:rPr lang="zh-CN" altLang="en-US" dirty="0"/>
              <a:t>这个方法需要人工进行分辨，前两个数据集的叶片没有背景以及遮挡，而采用爬取的方式大部分的图都会有错误以及图片清晰度不高的情况，需要人工进行标记以及筛除</a:t>
            </a:r>
            <a:endParaRPr lang="en-US" altLang="zh-CN" dirty="0"/>
          </a:p>
        </p:txBody>
      </p:sp>
      <p:pic>
        <p:nvPicPr>
          <p:cNvPr id="3" name="图片 2">
            <a:extLst>
              <a:ext uri="{FF2B5EF4-FFF2-40B4-BE49-F238E27FC236}">
                <a16:creationId xmlns:a16="http://schemas.microsoft.com/office/drawing/2014/main" id="{078E1A55-3C0D-46CD-A0DC-25C89BC037E9}"/>
              </a:ext>
            </a:extLst>
          </p:cNvPr>
          <p:cNvPicPr>
            <a:picLocks noChangeAspect="1"/>
          </p:cNvPicPr>
          <p:nvPr/>
        </p:nvPicPr>
        <p:blipFill>
          <a:blip r:embed="rId2"/>
          <a:stretch>
            <a:fillRect/>
          </a:stretch>
        </p:blipFill>
        <p:spPr>
          <a:xfrm>
            <a:off x="7642555" y="3119998"/>
            <a:ext cx="3851951" cy="1787582"/>
          </a:xfrm>
          <a:prstGeom prst="rect">
            <a:avLst/>
          </a:prstGeom>
        </p:spPr>
      </p:pic>
      <p:pic>
        <p:nvPicPr>
          <p:cNvPr id="4" name="图片 3">
            <a:extLst>
              <a:ext uri="{FF2B5EF4-FFF2-40B4-BE49-F238E27FC236}">
                <a16:creationId xmlns:a16="http://schemas.microsoft.com/office/drawing/2014/main" id="{0ECD55B9-471D-487D-87EC-3C6046DF5D67}"/>
              </a:ext>
            </a:extLst>
          </p:cNvPr>
          <p:cNvPicPr>
            <a:picLocks noChangeAspect="1"/>
          </p:cNvPicPr>
          <p:nvPr/>
        </p:nvPicPr>
        <p:blipFill>
          <a:blip r:embed="rId3"/>
          <a:stretch>
            <a:fillRect/>
          </a:stretch>
        </p:blipFill>
        <p:spPr>
          <a:xfrm>
            <a:off x="7642554" y="266403"/>
            <a:ext cx="3851952" cy="2217153"/>
          </a:xfrm>
          <a:prstGeom prst="rect">
            <a:avLst/>
          </a:prstGeom>
        </p:spPr>
      </p:pic>
      <p:pic>
        <p:nvPicPr>
          <p:cNvPr id="7" name="图片 6">
            <a:extLst>
              <a:ext uri="{FF2B5EF4-FFF2-40B4-BE49-F238E27FC236}">
                <a16:creationId xmlns:a16="http://schemas.microsoft.com/office/drawing/2014/main" id="{C0ADBEEA-03B6-49B8-BE57-046D04101C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221" y="4188178"/>
            <a:ext cx="4653978" cy="2377302"/>
          </a:xfrm>
          <a:prstGeom prst="rect">
            <a:avLst/>
          </a:prstGeom>
        </p:spPr>
      </p:pic>
      <p:sp>
        <p:nvSpPr>
          <p:cNvPr id="11" name="文本框 10">
            <a:extLst>
              <a:ext uri="{FF2B5EF4-FFF2-40B4-BE49-F238E27FC236}">
                <a16:creationId xmlns:a16="http://schemas.microsoft.com/office/drawing/2014/main" id="{114D2403-DBCF-4809-B036-F890DC3246A2}"/>
              </a:ext>
            </a:extLst>
          </p:cNvPr>
          <p:cNvSpPr txBox="1"/>
          <p:nvPr/>
        </p:nvSpPr>
        <p:spPr>
          <a:xfrm>
            <a:off x="8525528" y="2617111"/>
            <a:ext cx="2968978" cy="369332"/>
          </a:xfrm>
          <a:prstGeom prst="rect">
            <a:avLst/>
          </a:prstGeom>
          <a:noFill/>
        </p:spPr>
        <p:txBody>
          <a:bodyPr wrap="square" rtlCol="0">
            <a:spAutoFit/>
          </a:bodyPr>
          <a:lstStyle/>
          <a:p>
            <a:r>
              <a:rPr lang="en-US" altLang="zh-CN" dirty="0"/>
              <a:t>Swedish</a:t>
            </a:r>
            <a:r>
              <a:rPr lang="zh-CN" altLang="en-US" dirty="0"/>
              <a:t>部分数据集</a:t>
            </a:r>
          </a:p>
        </p:txBody>
      </p:sp>
      <p:sp>
        <p:nvSpPr>
          <p:cNvPr id="12" name="文本框 11">
            <a:extLst>
              <a:ext uri="{FF2B5EF4-FFF2-40B4-BE49-F238E27FC236}">
                <a16:creationId xmlns:a16="http://schemas.microsoft.com/office/drawing/2014/main" id="{3AC9E262-3185-4728-B450-889B9C41A898}"/>
              </a:ext>
            </a:extLst>
          </p:cNvPr>
          <p:cNvSpPr txBox="1"/>
          <p:nvPr/>
        </p:nvSpPr>
        <p:spPr>
          <a:xfrm>
            <a:off x="8406994" y="5174690"/>
            <a:ext cx="2968978" cy="369332"/>
          </a:xfrm>
          <a:prstGeom prst="rect">
            <a:avLst/>
          </a:prstGeom>
          <a:noFill/>
        </p:spPr>
        <p:txBody>
          <a:bodyPr wrap="square" rtlCol="0">
            <a:spAutoFit/>
          </a:bodyPr>
          <a:lstStyle/>
          <a:p>
            <a:r>
              <a:rPr lang="en-US" altLang="zh-CN" dirty="0"/>
              <a:t>Flavia</a:t>
            </a:r>
            <a:r>
              <a:rPr lang="zh-CN" altLang="en-US" dirty="0"/>
              <a:t>部分数据集</a:t>
            </a:r>
          </a:p>
        </p:txBody>
      </p:sp>
      <p:sp>
        <p:nvSpPr>
          <p:cNvPr id="13" name="文本框 12">
            <a:extLst>
              <a:ext uri="{FF2B5EF4-FFF2-40B4-BE49-F238E27FC236}">
                <a16:creationId xmlns:a16="http://schemas.microsoft.com/office/drawing/2014/main" id="{2156C005-09A6-41A0-8E63-1F143F8CF934}"/>
              </a:ext>
            </a:extLst>
          </p:cNvPr>
          <p:cNvSpPr txBox="1"/>
          <p:nvPr/>
        </p:nvSpPr>
        <p:spPr>
          <a:xfrm>
            <a:off x="5187107" y="5114269"/>
            <a:ext cx="2968978" cy="1477328"/>
          </a:xfrm>
          <a:prstGeom prst="rect">
            <a:avLst/>
          </a:prstGeom>
          <a:noFill/>
        </p:spPr>
        <p:txBody>
          <a:bodyPr wrap="square" rtlCol="0">
            <a:spAutoFit/>
          </a:bodyPr>
          <a:lstStyle/>
          <a:p>
            <a:r>
              <a:rPr lang="zh-CN" altLang="en-US" dirty="0"/>
              <a:t>采用</a:t>
            </a:r>
            <a:r>
              <a:rPr lang="en-US" altLang="zh-CN" dirty="0"/>
              <a:t>python</a:t>
            </a:r>
            <a:r>
              <a:rPr lang="zh-CN" altLang="en-US" dirty="0"/>
              <a:t>爬虫爬取的百度图片，大多数图片不清晰以及有遮盖的情况出现，并且出现部分图片完全不符合的情况需要进行人工筛选</a:t>
            </a:r>
          </a:p>
        </p:txBody>
      </p:sp>
    </p:spTree>
    <p:extLst>
      <p:ext uri="{BB962C8B-B14F-4D97-AF65-F5344CB8AC3E}">
        <p14:creationId xmlns:p14="http://schemas.microsoft.com/office/powerpoint/2010/main" val="3223364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E4769B-35DE-4367-95F1-3B7A02FD6D12}"/>
              </a:ext>
            </a:extLst>
          </p:cNvPr>
          <p:cNvSpPr>
            <a:spLocks noGrp="1"/>
          </p:cNvSpPr>
          <p:nvPr>
            <p:ph type="title"/>
          </p:nvPr>
        </p:nvSpPr>
        <p:spPr>
          <a:xfrm>
            <a:off x="194734" y="377559"/>
            <a:ext cx="2029178" cy="606955"/>
          </a:xfrm>
        </p:spPr>
        <p:txBody>
          <a:bodyPr>
            <a:normAutofit/>
          </a:bodyPr>
          <a:lstStyle/>
          <a:p>
            <a:r>
              <a:rPr lang="zh-CN" altLang="en-US" sz="2400" dirty="0">
                <a:latin typeface="+mn-lt"/>
                <a:ea typeface="+mn-ea"/>
                <a:cs typeface="+mn-cs"/>
              </a:rPr>
              <a:t>数据的预处理</a:t>
            </a:r>
          </a:p>
        </p:txBody>
      </p:sp>
      <p:sp>
        <p:nvSpPr>
          <p:cNvPr id="3" name="内容占位符 2">
            <a:extLst>
              <a:ext uri="{FF2B5EF4-FFF2-40B4-BE49-F238E27FC236}">
                <a16:creationId xmlns:a16="http://schemas.microsoft.com/office/drawing/2014/main" id="{4B2D3098-6905-4DB0-869E-CFC41E967D4D}"/>
              </a:ext>
            </a:extLst>
          </p:cNvPr>
          <p:cNvSpPr>
            <a:spLocks noGrp="1"/>
          </p:cNvSpPr>
          <p:nvPr>
            <p:ph idx="1"/>
          </p:nvPr>
        </p:nvSpPr>
        <p:spPr>
          <a:xfrm>
            <a:off x="194734" y="984514"/>
            <a:ext cx="10515600" cy="6102881"/>
          </a:xfrm>
        </p:spPr>
        <p:txBody>
          <a:bodyPr>
            <a:normAutofit/>
          </a:bodyPr>
          <a:lstStyle/>
          <a:p>
            <a:pPr marL="0" indent="0">
              <a:buNone/>
            </a:pPr>
            <a:r>
              <a:rPr lang="zh-CN" altLang="en-US" sz="1700" dirty="0">
                <a:latin typeface="微软雅黑" panose="020B0503020204020204" pitchFamily="34" charset="-122"/>
                <a:ea typeface="微软雅黑" panose="020B0503020204020204" pitchFamily="34" charset="-122"/>
              </a:rPr>
              <a:t>由于特征提取是采用植物的形状，纹理以及叶脉，特征提取之前需要对图片进行预处理，这里不用植物的颜色来进行分辨，为了减少光照因素的影响， 首先需要将整个图像归一化。因为颜色信息作用不大，通常先转化为灰度图，并进行二值化</a:t>
            </a:r>
            <a:endParaRPr lang="en-US" altLang="zh-CN" sz="1700" dirty="0">
              <a:latin typeface="微软雅黑" panose="020B0503020204020204" pitchFamily="34" charset="-122"/>
              <a:ea typeface="微软雅黑" panose="020B0503020204020204" pitchFamily="34" charset="-122"/>
            </a:endParaRPr>
          </a:p>
          <a:p>
            <a:pPr marL="0" indent="0">
              <a:buNone/>
            </a:pPr>
            <a:r>
              <a:rPr lang="en-US" altLang="zh-CN" sz="1700" dirty="0">
                <a:latin typeface="微软雅黑" panose="020B0503020204020204" pitchFamily="34" charset="-122"/>
                <a:ea typeface="微软雅黑" panose="020B0503020204020204" pitchFamily="34" charset="-122"/>
              </a:rPr>
              <a:t>1</a:t>
            </a:r>
            <a:r>
              <a:rPr lang="zh-CN" altLang="en-US" sz="1700" dirty="0">
                <a:latin typeface="微软雅黑" panose="020B0503020204020204" pitchFamily="34" charset="-122"/>
                <a:ea typeface="微软雅黑" panose="020B0503020204020204" pitchFamily="34" charset="-122"/>
              </a:rPr>
              <a:t>：灰度化</a:t>
            </a:r>
            <a:endParaRPr lang="en-US" altLang="zh-CN" sz="1700" dirty="0">
              <a:latin typeface="微软雅黑" panose="020B0503020204020204" pitchFamily="34" charset="-122"/>
              <a:ea typeface="微软雅黑" panose="020B0503020204020204" pitchFamily="34" charset="-122"/>
            </a:endParaRPr>
          </a:p>
          <a:p>
            <a:pPr marL="0" indent="0">
              <a:buNone/>
            </a:pPr>
            <a:r>
              <a:rPr lang="zh-CN" altLang="en-US" sz="1700" dirty="0">
                <a:latin typeface="微软雅黑" panose="020B0503020204020204" pitchFamily="34" charset="-122"/>
                <a:ea typeface="微软雅黑" panose="020B0503020204020204" pitchFamily="34" charset="-122"/>
              </a:rPr>
              <a:t>图像是</a:t>
            </a:r>
            <a:r>
              <a:rPr lang="en-US" altLang="zh-CN" sz="1700" dirty="0">
                <a:latin typeface="微软雅黑" panose="020B0503020204020204" pitchFamily="34" charset="-122"/>
                <a:ea typeface="微软雅黑" panose="020B0503020204020204" pitchFamily="34" charset="-122"/>
              </a:rPr>
              <a:t>RGB</a:t>
            </a:r>
            <a:r>
              <a:rPr lang="zh-CN" altLang="en-US" sz="1700" dirty="0">
                <a:latin typeface="微软雅黑" panose="020B0503020204020204" pitchFamily="34" charset="-122"/>
                <a:ea typeface="微软雅黑" panose="020B0503020204020204" pitchFamily="34" charset="-122"/>
              </a:rPr>
              <a:t>颜色模式，灰度化就是从光学原理上进行颜色分配，由于人眼对不同颜色的敏感程度的不同，这里采用加权平均法对</a:t>
            </a:r>
            <a:r>
              <a:rPr lang="en-US" altLang="zh-CN" sz="1700" dirty="0">
                <a:latin typeface="微软雅黑" panose="020B0503020204020204" pitchFamily="34" charset="-122"/>
                <a:ea typeface="微软雅黑" panose="020B0503020204020204" pitchFamily="34" charset="-122"/>
              </a:rPr>
              <a:t>RGB</a:t>
            </a:r>
            <a:r>
              <a:rPr lang="zh-CN" altLang="en-US" sz="1700" dirty="0">
                <a:latin typeface="微软雅黑" panose="020B0503020204020204" pitchFamily="34" charset="-122"/>
                <a:ea typeface="微软雅黑" panose="020B0503020204020204" pitchFamily="34" charset="-122"/>
              </a:rPr>
              <a:t>三分量进行加权平均</a:t>
            </a:r>
            <a:endParaRPr lang="en-US" altLang="zh-CN" sz="1700" dirty="0">
              <a:latin typeface="微软雅黑" panose="020B0503020204020204" pitchFamily="34" charset="-122"/>
              <a:ea typeface="微软雅黑" panose="020B0503020204020204" pitchFamily="34" charset="-122"/>
            </a:endParaRPr>
          </a:p>
          <a:p>
            <a:pPr marL="0" indent="0">
              <a:buNone/>
            </a:pPr>
            <a:r>
              <a:rPr lang="en-US" altLang="zh-CN" sz="1700" dirty="0">
                <a:latin typeface="微软雅黑" panose="020B0503020204020204" pitchFamily="34" charset="-122"/>
                <a:ea typeface="微软雅黑" panose="020B0503020204020204" pitchFamily="34" charset="-122"/>
              </a:rPr>
              <a:t>Gray(</a:t>
            </a:r>
            <a:r>
              <a:rPr lang="en-US" altLang="zh-CN" sz="1700" dirty="0" err="1">
                <a:latin typeface="微软雅黑" panose="020B0503020204020204" pitchFamily="34" charset="-122"/>
                <a:ea typeface="微软雅黑" panose="020B0503020204020204" pitchFamily="34" charset="-122"/>
              </a:rPr>
              <a:t>i,j</a:t>
            </a:r>
            <a:r>
              <a:rPr lang="en-US" altLang="zh-CN" sz="1700" dirty="0">
                <a:latin typeface="微软雅黑" panose="020B0503020204020204" pitchFamily="34" charset="-122"/>
                <a:ea typeface="微软雅黑" panose="020B0503020204020204" pitchFamily="34" charset="-122"/>
              </a:rPr>
              <a:t>) = 0.299*R(</a:t>
            </a:r>
            <a:r>
              <a:rPr lang="en-US" altLang="zh-CN" sz="1700" dirty="0" err="1">
                <a:latin typeface="微软雅黑" panose="020B0503020204020204" pitchFamily="34" charset="-122"/>
                <a:ea typeface="微软雅黑" panose="020B0503020204020204" pitchFamily="34" charset="-122"/>
              </a:rPr>
              <a:t>i,j</a:t>
            </a:r>
            <a:r>
              <a:rPr lang="en-US" altLang="zh-CN" sz="1700" dirty="0">
                <a:latin typeface="微软雅黑" panose="020B0503020204020204" pitchFamily="34" charset="-122"/>
                <a:ea typeface="微软雅黑" panose="020B0503020204020204" pitchFamily="34" charset="-122"/>
              </a:rPr>
              <a:t>)+0.578*G(</a:t>
            </a:r>
            <a:r>
              <a:rPr lang="en-US" altLang="zh-CN" sz="1700" dirty="0" err="1">
                <a:latin typeface="微软雅黑" panose="020B0503020204020204" pitchFamily="34" charset="-122"/>
                <a:ea typeface="微软雅黑" panose="020B0503020204020204" pitchFamily="34" charset="-122"/>
              </a:rPr>
              <a:t>i,j</a:t>
            </a:r>
            <a:r>
              <a:rPr lang="en-US" altLang="zh-CN" sz="1700" dirty="0">
                <a:latin typeface="微软雅黑" panose="020B0503020204020204" pitchFamily="34" charset="-122"/>
                <a:ea typeface="微软雅黑" panose="020B0503020204020204" pitchFamily="34" charset="-122"/>
              </a:rPr>
              <a:t>)+0.114*B(</a:t>
            </a:r>
            <a:r>
              <a:rPr lang="en-US" altLang="zh-CN" sz="1700" dirty="0" err="1">
                <a:latin typeface="微软雅黑" panose="020B0503020204020204" pitchFamily="34" charset="-122"/>
                <a:ea typeface="微软雅黑" panose="020B0503020204020204" pitchFamily="34" charset="-122"/>
              </a:rPr>
              <a:t>i,j</a:t>
            </a:r>
            <a:r>
              <a:rPr lang="en-US" altLang="zh-CN" sz="1700" dirty="0">
                <a:latin typeface="微软雅黑" panose="020B0503020204020204" pitchFamily="34" charset="-122"/>
                <a:ea typeface="微软雅黑" panose="020B0503020204020204" pitchFamily="34" charset="-122"/>
              </a:rPr>
              <a:t>)</a:t>
            </a:r>
          </a:p>
          <a:p>
            <a:pPr marL="0" indent="0">
              <a:buNone/>
            </a:pPr>
            <a:endParaRPr lang="en-US" altLang="zh-CN" sz="1700" dirty="0">
              <a:latin typeface="微软雅黑" panose="020B0503020204020204" pitchFamily="34" charset="-122"/>
              <a:ea typeface="微软雅黑" panose="020B0503020204020204" pitchFamily="34" charset="-122"/>
            </a:endParaRPr>
          </a:p>
          <a:p>
            <a:pPr marL="0" indent="0">
              <a:buNone/>
            </a:pPr>
            <a:r>
              <a:rPr lang="en-US" altLang="zh-CN" sz="1700" dirty="0">
                <a:latin typeface="微软雅黑" panose="020B0503020204020204" pitchFamily="34" charset="-122"/>
                <a:ea typeface="微软雅黑" panose="020B0503020204020204" pitchFamily="34" charset="-122"/>
              </a:rPr>
              <a:t>2</a:t>
            </a:r>
            <a:r>
              <a:rPr lang="zh-CN" altLang="en-US" sz="1700" dirty="0">
                <a:latin typeface="微软雅黑" panose="020B0503020204020204" pitchFamily="34" charset="-122"/>
                <a:ea typeface="微软雅黑" panose="020B0503020204020204" pitchFamily="34" charset="-122"/>
              </a:rPr>
              <a:t>：校正</a:t>
            </a:r>
            <a:endParaRPr lang="en-US" altLang="zh-CN" sz="1700" dirty="0">
              <a:latin typeface="微软雅黑" panose="020B0503020204020204" pitchFamily="34" charset="-122"/>
              <a:ea typeface="微软雅黑" panose="020B0503020204020204" pitchFamily="34" charset="-122"/>
            </a:endParaRPr>
          </a:p>
          <a:p>
            <a:pPr marL="0" indent="0">
              <a:buNone/>
            </a:pPr>
            <a:r>
              <a:rPr lang="zh-CN" altLang="en-US" sz="1700" dirty="0">
                <a:latin typeface="微软雅黑" panose="020B0503020204020204" pitchFamily="34" charset="-122"/>
                <a:ea typeface="微软雅黑" panose="020B0503020204020204" pitchFamily="34" charset="-122"/>
              </a:rPr>
              <a:t>未经</a:t>
            </a:r>
            <a:r>
              <a:rPr lang="en-US" altLang="zh-CN" sz="1700" dirty="0">
                <a:latin typeface="微软雅黑" panose="020B0503020204020204" pitchFamily="34" charset="-122"/>
                <a:ea typeface="微软雅黑" panose="020B0503020204020204" pitchFamily="34" charset="-122"/>
              </a:rPr>
              <a:t>gamma</a:t>
            </a:r>
            <a:r>
              <a:rPr lang="zh-CN" altLang="en-US" sz="1700" dirty="0">
                <a:latin typeface="微软雅黑" panose="020B0503020204020204" pitchFamily="34" charset="-122"/>
                <a:ea typeface="微软雅黑" panose="020B0503020204020204" pitchFamily="34" charset="-122"/>
              </a:rPr>
              <a:t>校正的情况下，低灰度时，有较大范围的灰度值被保存成同一个值，造成信息丢失；同时高灰度值时，很多比较接近的灰度值却被保存成不同的值，造成空间浪费。经过</a:t>
            </a:r>
            <a:r>
              <a:rPr lang="en-US" altLang="zh-CN" sz="1700" dirty="0">
                <a:latin typeface="微软雅黑" panose="020B0503020204020204" pitchFamily="34" charset="-122"/>
                <a:ea typeface="微软雅黑" panose="020B0503020204020204" pitchFamily="34" charset="-122"/>
              </a:rPr>
              <a:t>gamma</a:t>
            </a:r>
            <a:r>
              <a:rPr lang="zh-CN" altLang="en-US" sz="1700" dirty="0">
                <a:latin typeface="微软雅黑" panose="020B0503020204020204" pitchFamily="34" charset="-122"/>
                <a:ea typeface="微软雅黑" panose="020B0503020204020204" pitchFamily="34" charset="-122"/>
              </a:rPr>
              <a:t>校正后，图像的信息更加逼近原图的信息从而改善了存储的有效性和效率。并且校正可以有效去噪，在特征提取中形状特征提取</a:t>
            </a:r>
            <a:r>
              <a:rPr lang="en-US" altLang="zh-CN" sz="1700" dirty="0">
                <a:latin typeface="微软雅黑" panose="020B0503020204020204" pitchFamily="34" charset="-122"/>
                <a:ea typeface="微软雅黑" panose="020B0503020204020204" pitchFamily="34" charset="-122"/>
              </a:rPr>
              <a:t>HOG</a:t>
            </a:r>
            <a:r>
              <a:rPr lang="zh-CN" altLang="en-US" sz="1700" dirty="0">
                <a:latin typeface="微软雅黑" panose="020B0503020204020204" pitchFamily="34" charset="-122"/>
                <a:ea typeface="微软雅黑" panose="020B0503020204020204" pitchFamily="34" charset="-122"/>
              </a:rPr>
              <a:t>算法，由于对噪点敏感这个时候的校正就显得尤为重要</a:t>
            </a:r>
            <a:endParaRPr lang="en-US" altLang="zh-CN" sz="1700" dirty="0">
              <a:latin typeface="微软雅黑" panose="020B0503020204020204" pitchFamily="34" charset="-122"/>
              <a:ea typeface="微软雅黑" panose="020B0503020204020204" pitchFamily="34" charset="-122"/>
            </a:endParaRPr>
          </a:p>
          <a:p>
            <a:pPr marL="0" indent="0">
              <a:buNone/>
            </a:pPr>
            <a:endParaRPr lang="en-US" altLang="zh-CN" sz="1700" dirty="0">
              <a:latin typeface="微软雅黑" panose="020B0503020204020204" pitchFamily="34" charset="-122"/>
              <a:ea typeface="微软雅黑" panose="020B0503020204020204" pitchFamily="34" charset="-122"/>
            </a:endParaRPr>
          </a:p>
          <a:p>
            <a:pPr marL="0" indent="0">
              <a:buNone/>
            </a:pPr>
            <a:r>
              <a:rPr lang="en-US" altLang="zh-CN" sz="1700" dirty="0">
                <a:latin typeface="微软雅黑" panose="020B0503020204020204" pitchFamily="34" charset="-122"/>
                <a:ea typeface="微软雅黑" panose="020B0503020204020204" pitchFamily="34" charset="-122"/>
              </a:rPr>
              <a:t>3:</a:t>
            </a:r>
            <a:r>
              <a:rPr lang="zh-CN" altLang="en-US" sz="1700" dirty="0">
                <a:latin typeface="微软雅黑" panose="020B0503020204020204" pitchFamily="34" charset="-122"/>
                <a:ea typeface="微软雅黑" panose="020B0503020204020204" pitchFamily="34" charset="-122"/>
              </a:rPr>
              <a:t>二值化</a:t>
            </a:r>
            <a:endParaRPr lang="en-US" altLang="zh-CN" sz="1700" dirty="0">
              <a:latin typeface="微软雅黑" panose="020B0503020204020204" pitchFamily="34" charset="-122"/>
              <a:ea typeface="微软雅黑" panose="020B0503020204020204" pitchFamily="34" charset="-122"/>
            </a:endParaRPr>
          </a:p>
          <a:p>
            <a:pPr marL="0" indent="0">
              <a:buNone/>
            </a:pPr>
            <a:r>
              <a:rPr lang="zh-CN" altLang="en-US" sz="1700" dirty="0">
                <a:latin typeface="微软雅黑" panose="020B0503020204020204" pitchFamily="34" charset="-122"/>
                <a:ea typeface="微软雅黑" panose="020B0503020204020204" pitchFamily="34" charset="-122"/>
              </a:rPr>
              <a:t>二值化就是直接将图像处理成黑白效果，凸显出重要特征，这个在形状提取和叶脉提取时候显得尤为重要，所以，这个时候判定灰度值的阈值来进行转换，阈值的选取直接影响后面的识别效果，其中基于直方图的全局二值算法有着容易实现并且执行速度快的优点，其中采用</a:t>
            </a:r>
            <a:r>
              <a:rPr lang="en-US" altLang="zh-CN" sz="1700" dirty="0">
                <a:latin typeface="微软雅黑" panose="020B0503020204020204" pitchFamily="34" charset="-122"/>
                <a:ea typeface="微软雅黑" panose="020B0503020204020204" pitchFamily="34" charset="-122"/>
              </a:rPr>
              <a:t>OSTU</a:t>
            </a:r>
            <a:r>
              <a:rPr lang="zh-CN" altLang="en-US" sz="1700" dirty="0">
                <a:latin typeface="微软雅黑" panose="020B0503020204020204" pitchFamily="34" charset="-122"/>
                <a:ea typeface="微软雅黑" panose="020B0503020204020204" pitchFamily="34" charset="-122"/>
              </a:rPr>
              <a:t>大律法，主要思想就是使得前景和背景的方差最大化，其中</a:t>
            </a:r>
            <a:r>
              <a:rPr lang="en-US" altLang="zh-CN" sz="1700" dirty="0" err="1">
                <a:latin typeface="微软雅黑" panose="020B0503020204020204" pitchFamily="34" charset="-122"/>
                <a:ea typeface="微软雅黑" panose="020B0503020204020204" pitchFamily="34" charset="-122"/>
              </a:rPr>
              <a:t>matlab</a:t>
            </a:r>
            <a:r>
              <a:rPr lang="zh-CN" altLang="en-US" sz="1700" dirty="0">
                <a:latin typeface="微软雅黑" panose="020B0503020204020204" pitchFamily="34" charset="-122"/>
                <a:ea typeface="微软雅黑" panose="020B0503020204020204" pitchFamily="34" charset="-122"/>
              </a:rPr>
              <a:t>中的</a:t>
            </a:r>
            <a:r>
              <a:rPr lang="en-US" altLang="zh-CN" sz="1700" dirty="0" err="1">
                <a:latin typeface="微软雅黑" panose="020B0503020204020204" pitchFamily="34" charset="-122"/>
                <a:ea typeface="微软雅黑" panose="020B0503020204020204" pitchFamily="34" charset="-122"/>
              </a:rPr>
              <a:t>graythresh</a:t>
            </a:r>
            <a:r>
              <a:rPr lang="zh-CN" altLang="en-US" sz="1700" dirty="0">
                <a:latin typeface="微软雅黑" panose="020B0503020204020204" pitchFamily="34" charset="-122"/>
                <a:ea typeface="微软雅黑" panose="020B0503020204020204" pitchFamily="34" charset="-122"/>
              </a:rPr>
              <a:t>采用该原理实现，并且在论文中相对处理的资料较多，实现较为便捷快速</a:t>
            </a:r>
          </a:p>
        </p:txBody>
      </p:sp>
    </p:spTree>
    <p:extLst>
      <p:ext uri="{BB962C8B-B14F-4D97-AF65-F5344CB8AC3E}">
        <p14:creationId xmlns:p14="http://schemas.microsoft.com/office/powerpoint/2010/main" val="403544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A0E4597-E6A6-4AAC-811A-564620DDF0A4}"/>
              </a:ext>
            </a:extLst>
          </p:cNvPr>
          <p:cNvSpPr txBox="1"/>
          <p:nvPr/>
        </p:nvSpPr>
        <p:spPr>
          <a:xfrm>
            <a:off x="654756" y="462844"/>
            <a:ext cx="8748888" cy="2308324"/>
          </a:xfrm>
          <a:prstGeom prst="rect">
            <a:avLst/>
          </a:prstGeom>
          <a:noFill/>
        </p:spPr>
        <p:txBody>
          <a:bodyPr wrap="square" rtlCol="0">
            <a:spAutoFit/>
          </a:bodyPr>
          <a:lstStyle/>
          <a:p>
            <a:r>
              <a:rPr lang="en-US" altLang="zh-CN" dirty="0"/>
              <a:t>4</a:t>
            </a:r>
            <a:r>
              <a:rPr lang="zh-CN" altLang="en-US" dirty="0"/>
              <a:t>：形态学处理</a:t>
            </a:r>
            <a:endParaRPr lang="en-US" altLang="zh-CN" dirty="0"/>
          </a:p>
          <a:p>
            <a:r>
              <a:rPr lang="zh-CN" altLang="en-US" dirty="0"/>
              <a:t>在植物叶片进行二值化后，由于植物叶片局部特征可能会影响整个判别结果，比如叶片的虫洞，叶片的叶脉会影响轮廓的提取，同样轮廓也会影响叶脉的提取，这个时候形态学对生成的图进行形态学处理，运用心态学的开运算，闭运算，腐蚀，膨胀操作</a:t>
            </a:r>
            <a:endParaRPr lang="en-US" altLang="zh-CN" dirty="0"/>
          </a:p>
          <a:p>
            <a:r>
              <a:rPr lang="en-US" altLang="zh-CN" dirty="0"/>
              <a:t> </a:t>
            </a:r>
          </a:p>
          <a:p>
            <a:endParaRPr lang="en-US" altLang="zh-CN" dirty="0"/>
          </a:p>
          <a:p>
            <a:r>
              <a:rPr lang="zh-CN" altLang="en-US" dirty="0"/>
              <a:t>比如孔洞，斑点消除可以用形态学的闭操作，先膨胀在腐蚀，多次重复后可以消除，再比如轮廓提取对叶脉消除，可以使用开运算，先进行闭操作，在进行开操作</a:t>
            </a:r>
            <a:endParaRPr lang="en-US" altLang="zh-CN" dirty="0"/>
          </a:p>
        </p:txBody>
      </p:sp>
    </p:spTree>
    <p:extLst>
      <p:ext uri="{BB962C8B-B14F-4D97-AF65-F5344CB8AC3E}">
        <p14:creationId xmlns:p14="http://schemas.microsoft.com/office/powerpoint/2010/main" val="3733498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56AA3D5B-160B-43A8-82B0-4FBD19A88569}"/>
              </a:ext>
            </a:extLst>
          </p:cNvPr>
          <p:cNvSpPr>
            <a:spLocks noGrp="1"/>
          </p:cNvSpPr>
          <p:nvPr>
            <p:ph type="title"/>
          </p:nvPr>
        </p:nvSpPr>
        <p:spPr>
          <a:xfrm>
            <a:off x="194734" y="377559"/>
            <a:ext cx="2029178" cy="606955"/>
          </a:xfrm>
        </p:spPr>
        <p:txBody>
          <a:bodyPr>
            <a:normAutofit/>
          </a:bodyPr>
          <a:lstStyle/>
          <a:p>
            <a:r>
              <a:rPr lang="zh-CN" altLang="en-US" sz="2400" dirty="0">
                <a:latin typeface="+mn-lt"/>
                <a:ea typeface="+mn-ea"/>
                <a:cs typeface="+mn-cs"/>
              </a:rPr>
              <a:t>特征提取</a:t>
            </a:r>
          </a:p>
        </p:txBody>
      </p:sp>
      <p:sp>
        <p:nvSpPr>
          <p:cNvPr id="7" name="文本框 6">
            <a:extLst>
              <a:ext uri="{FF2B5EF4-FFF2-40B4-BE49-F238E27FC236}">
                <a16:creationId xmlns:a16="http://schemas.microsoft.com/office/drawing/2014/main" id="{5BE00453-72AE-4756-8327-3A7700145FF7}"/>
              </a:ext>
            </a:extLst>
          </p:cNvPr>
          <p:cNvSpPr txBox="1"/>
          <p:nvPr/>
        </p:nvSpPr>
        <p:spPr>
          <a:xfrm>
            <a:off x="194734" y="1072444"/>
            <a:ext cx="10258777" cy="3416320"/>
          </a:xfrm>
          <a:prstGeom prst="rect">
            <a:avLst/>
          </a:prstGeom>
          <a:noFill/>
        </p:spPr>
        <p:txBody>
          <a:bodyPr wrap="square" rtlCol="0">
            <a:spAutoFit/>
          </a:bodyPr>
          <a:lstStyle/>
          <a:p>
            <a:r>
              <a:rPr lang="zh-CN" altLang="en-US" dirty="0"/>
              <a:t>特征提取这里有形状特征提取，纹理特征提取和叶脉特征提取</a:t>
            </a:r>
            <a:endParaRPr lang="en-US" altLang="zh-CN" dirty="0"/>
          </a:p>
          <a:p>
            <a:r>
              <a:rPr lang="en-US" altLang="zh-CN" dirty="0"/>
              <a:t>1</a:t>
            </a:r>
            <a:r>
              <a:rPr lang="zh-CN" altLang="en-US" dirty="0"/>
              <a:t>：形状特征提取</a:t>
            </a:r>
            <a:endParaRPr lang="en-US" altLang="zh-CN" dirty="0"/>
          </a:p>
          <a:p>
            <a:r>
              <a:rPr lang="zh-CN" altLang="en-US" dirty="0"/>
              <a:t>方向梯度直方图（</a:t>
            </a:r>
            <a:r>
              <a:rPr lang="en-US" altLang="zh-CN" dirty="0"/>
              <a:t>Histogram of Oriented Gradient, HOG</a:t>
            </a:r>
            <a:r>
              <a:rPr lang="zh-CN" altLang="en-US" dirty="0"/>
              <a:t>）是通过计算和统计图像局部区域的梯度方向直方图来实现特征描述，目前主要应用于行人检测算法，并且结合</a:t>
            </a:r>
            <a:r>
              <a:rPr lang="en-US" altLang="zh-CN" dirty="0"/>
              <a:t>SVM</a:t>
            </a:r>
            <a:r>
              <a:rPr lang="zh-CN" altLang="en-US" dirty="0"/>
              <a:t>分类技术应用广泛，在</a:t>
            </a:r>
            <a:r>
              <a:rPr lang="en-US" altLang="zh-CN" dirty="0" err="1"/>
              <a:t>opencv</a:t>
            </a:r>
            <a:r>
              <a:rPr lang="zh-CN" altLang="en-US" dirty="0"/>
              <a:t>中，有</a:t>
            </a:r>
            <a:r>
              <a:rPr lang="en-US" altLang="zh-CN" dirty="0" err="1"/>
              <a:t>HOGDescriptor</a:t>
            </a:r>
            <a:r>
              <a:rPr lang="zh-CN" altLang="en-US" dirty="0"/>
              <a:t>类可以快速实现效果，主要优点就是基本忽略关照影响，使得图像表征维数较少，缺点就是对噪点敏感，图像预处理中，经过去噪来消除影响，这里采用</a:t>
            </a:r>
            <a:r>
              <a:rPr lang="en-US" altLang="zh-CN" dirty="0"/>
              <a:t>Gamma</a:t>
            </a:r>
            <a:r>
              <a:rPr lang="zh-CN" altLang="en-US" dirty="0"/>
              <a:t>校正法对输入的颜色再处理，调节对比度，降低局部阴影和光照影响，并且有效抑制噪声影响</a:t>
            </a:r>
            <a:endParaRPr lang="en-US" altLang="zh-CN" dirty="0"/>
          </a:p>
          <a:p>
            <a:endParaRPr lang="en-US" altLang="zh-CN" dirty="0"/>
          </a:p>
          <a:p>
            <a:r>
              <a:rPr lang="en-US" altLang="zh-CN" dirty="0"/>
              <a:t>HOG</a:t>
            </a:r>
            <a:r>
              <a:rPr lang="zh-CN" altLang="en-US" dirty="0"/>
              <a:t>是一种典型的物体检测特征描述子，通过计算统计局部区域的梯度方向直方图构成特征描述集，</a:t>
            </a:r>
            <a:r>
              <a:rPr lang="en-US" altLang="zh-CN" dirty="0"/>
              <a:t>HOG</a:t>
            </a:r>
            <a:r>
              <a:rPr lang="zh-CN" altLang="en-US" dirty="0"/>
              <a:t>提取流程：</a:t>
            </a:r>
            <a:br>
              <a:rPr lang="en-US" altLang="zh-CN" dirty="0"/>
            </a:br>
            <a:endParaRPr lang="en-US" altLang="zh-CN" dirty="0"/>
          </a:p>
          <a:p>
            <a:endParaRPr lang="en-US" altLang="zh-CN" dirty="0"/>
          </a:p>
        </p:txBody>
      </p:sp>
      <p:sp>
        <p:nvSpPr>
          <p:cNvPr id="9" name="矩形 8">
            <a:extLst>
              <a:ext uri="{FF2B5EF4-FFF2-40B4-BE49-F238E27FC236}">
                <a16:creationId xmlns:a16="http://schemas.microsoft.com/office/drawing/2014/main" id="{3506913B-DE1D-4156-9718-4D44509180FC}"/>
              </a:ext>
            </a:extLst>
          </p:cNvPr>
          <p:cNvSpPr/>
          <p:nvPr/>
        </p:nvSpPr>
        <p:spPr>
          <a:xfrm>
            <a:off x="367483" y="4420341"/>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9DC12A07-78D3-4546-9B59-550D498F751E}"/>
              </a:ext>
            </a:extLst>
          </p:cNvPr>
          <p:cNvSpPr txBox="1"/>
          <p:nvPr/>
        </p:nvSpPr>
        <p:spPr>
          <a:xfrm>
            <a:off x="470262" y="4623540"/>
            <a:ext cx="461665" cy="1264355"/>
          </a:xfrm>
          <a:prstGeom prst="rect">
            <a:avLst/>
          </a:prstGeom>
          <a:noFill/>
        </p:spPr>
        <p:txBody>
          <a:bodyPr vert="eaVert" wrap="square" rtlCol="0">
            <a:spAutoFit/>
          </a:bodyPr>
          <a:lstStyle/>
          <a:p>
            <a:r>
              <a:rPr lang="zh-CN" altLang="en-US" dirty="0"/>
              <a:t>输入图像</a:t>
            </a:r>
          </a:p>
        </p:txBody>
      </p:sp>
      <p:sp>
        <p:nvSpPr>
          <p:cNvPr id="11" name="矩形 10">
            <a:extLst>
              <a:ext uri="{FF2B5EF4-FFF2-40B4-BE49-F238E27FC236}">
                <a16:creationId xmlns:a16="http://schemas.microsoft.com/office/drawing/2014/main" id="{5879A232-D0E2-46C0-A78D-A32A0A99CFDA}"/>
              </a:ext>
            </a:extLst>
          </p:cNvPr>
          <p:cNvSpPr/>
          <p:nvPr/>
        </p:nvSpPr>
        <p:spPr>
          <a:xfrm>
            <a:off x="1512578" y="4442920"/>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4644B7-37EF-4176-A40A-0DA1819A23EB}"/>
              </a:ext>
            </a:extLst>
          </p:cNvPr>
          <p:cNvSpPr txBox="1"/>
          <p:nvPr/>
        </p:nvSpPr>
        <p:spPr>
          <a:xfrm>
            <a:off x="1615357" y="4646119"/>
            <a:ext cx="461665" cy="1264355"/>
          </a:xfrm>
          <a:prstGeom prst="rect">
            <a:avLst/>
          </a:prstGeom>
          <a:noFill/>
        </p:spPr>
        <p:txBody>
          <a:bodyPr vert="eaVert" wrap="square" rtlCol="0">
            <a:spAutoFit/>
          </a:bodyPr>
          <a:lstStyle/>
          <a:p>
            <a:r>
              <a:rPr lang="zh-CN" altLang="en-US" dirty="0"/>
              <a:t>计算梯度</a:t>
            </a:r>
          </a:p>
        </p:txBody>
      </p:sp>
      <p:sp>
        <p:nvSpPr>
          <p:cNvPr id="13" name="矩形 12">
            <a:extLst>
              <a:ext uri="{FF2B5EF4-FFF2-40B4-BE49-F238E27FC236}">
                <a16:creationId xmlns:a16="http://schemas.microsoft.com/office/drawing/2014/main" id="{88F11552-47D7-49F9-B7BF-397EFE52FE0E}"/>
              </a:ext>
            </a:extLst>
          </p:cNvPr>
          <p:cNvSpPr/>
          <p:nvPr/>
        </p:nvSpPr>
        <p:spPr>
          <a:xfrm>
            <a:off x="2650274" y="4431627"/>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CEB0EF7-DF6F-4DAF-B9FC-1A55E81A28DE}"/>
              </a:ext>
            </a:extLst>
          </p:cNvPr>
          <p:cNvSpPr txBox="1"/>
          <p:nvPr/>
        </p:nvSpPr>
        <p:spPr>
          <a:xfrm>
            <a:off x="2600216" y="4571050"/>
            <a:ext cx="738664" cy="1264355"/>
          </a:xfrm>
          <a:prstGeom prst="rect">
            <a:avLst/>
          </a:prstGeom>
          <a:noFill/>
        </p:spPr>
        <p:txBody>
          <a:bodyPr vert="eaVert" wrap="square" rtlCol="0">
            <a:spAutoFit/>
          </a:bodyPr>
          <a:lstStyle/>
          <a:p>
            <a:r>
              <a:rPr lang="zh-CN" altLang="en-US" dirty="0"/>
              <a:t>单</a:t>
            </a:r>
            <a:r>
              <a:rPr lang="en-US" altLang="zh-CN" dirty="0"/>
              <a:t>cell</a:t>
            </a:r>
            <a:r>
              <a:rPr lang="zh-CN" altLang="en-US" dirty="0"/>
              <a:t>块单元权重投影</a:t>
            </a:r>
          </a:p>
        </p:txBody>
      </p:sp>
      <p:sp>
        <p:nvSpPr>
          <p:cNvPr id="17" name="矩形 16">
            <a:extLst>
              <a:ext uri="{FF2B5EF4-FFF2-40B4-BE49-F238E27FC236}">
                <a16:creationId xmlns:a16="http://schemas.microsoft.com/office/drawing/2014/main" id="{D23C9E6B-533F-45CC-A9A2-0E0FA0789D8F}"/>
              </a:ext>
            </a:extLst>
          </p:cNvPr>
          <p:cNvSpPr/>
          <p:nvPr/>
        </p:nvSpPr>
        <p:spPr>
          <a:xfrm>
            <a:off x="3939827" y="4442919"/>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E2AC229-7581-4E54-A738-108867AA506F}"/>
              </a:ext>
            </a:extLst>
          </p:cNvPr>
          <p:cNvSpPr txBox="1"/>
          <p:nvPr/>
        </p:nvSpPr>
        <p:spPr>
          <a:xfrm>
            <a:off x="3870409" y="4646118"/>
            <a:ext cx="738664" cy="1264355"/>
          </a:xfrm>
          <a:prstGeom prst="rect">
            <a:avLst/>
          </a:prstGeom>
          <a:noFill/>
        </p:spPr>
        <p:txBody>
          <a:bodyPr vert="eaVert" wrap="square" rtlCol="0">
            <a:spAutoFit/>
          </a:bodyPr>
          <a:lstStyle/>
          <a:p>
            <a:r>
              <a:rPr lang="zh-CN" altLang="en-US" dirty="0"/>
              <a:t>重叠</a:t>
            </a:r>
            <a:r>
              <a:rPr lang="en-US" altLang="zh-CN" dirty="0"/>
              <a:t>block</a:t>
            </a:r>
            <a:r>
              <a:rPr lang="zh-CN" altLang="en-US" dirty="0"/>
              <a:t>块内归一化</a:t>
            </a:r>
          </a:p>
        </p:txBody>
      </p:sp>
      <p:sp>
        <p:nvSpPr>
          <p:cNvPr id="19" name="矩形 18">
            <a:extLst>
              <a:ext uri="{FF2B5EF4-FFF2-40B4-BE49-F238E27FC236}">
                <a16:creationId xmlns:a16="http://schemas.microsoft.com/office/drawing/2014/main" id="{CE4C341C-61AF-4C6D-94A3-F0C2C857B913}"/>
              </a:ext>
            </a:extLst>
          </p:cNvPr>
          <p:cNvSpPr/>
          <p:nvPr/>
        </p:nvSpPr>
        <p:spPr>
          <a:xfrm>
            <a:off x="5129143" y="4183275"/>
            <a:ext cx="772514" cy="17763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9D9A94D6-BE9A-4302-8355-B19741E17F46}"/>
              </a:ext>
            </a:extLst>
          </p:cNvPr>
          <p:cNvSpPr txBox="1"/>
          <p:nvPr/>
        </p:nvSpPr>
        <p:spPr>
          <a:xfrm>
            <a:off x="5111373" y="4253277"/>
            <a:ext cx="738664" cy="1909510"/>
          </a:xfrm>
          <a:prstGeom prst="rect">
            <a:avLst/>
          </a:prstGeom>
          <a:noFill/>
        </p:spPr>
        <p:txBody>
          <a:bodyPr vert="eaVert" wrap="square" rtlCol="0">
            <a:spAutoFit/>
          </a:bodyPr>
          <a:lstStyle/>
          <a:p>
            <a:r>
              <a:rPr lang="zh-CN" altLang="en-US" dirty="0"/>
              <a:t>归集所有</a:t>
            </a:r>
            <a:r>
              <a:rPr lang="en-US" altLang="zh-CN" dirty="0"/>
              <a:t>block</a:t>
            </a:r>
            <a:r>
              <a:rPr lang="zh-CN" altLang="en-US" dirty="0"/>
              <a:t>内向量组成</a:t>
            </a:r>
            <a:r>
              <a:rPr lang="en-US" altLang="zh-CN" dirty="0"/>
              <a:t>HOG</a:t>
            </a:r>
            <a:r>
              <a:rPr lang="zh-CN" altLang="en-US" dirty="0"/>
              <a:t>集</a:t>
            </a:r>
          </a:p>
        </p:txBody>
      </p:sp>
      <p:sp>
        <p:nvSpPr>
          <p:cNvPr id="21" name="箭头: 右 20">
            <a:extLst>
              <a:ext uri="{FF2B5EF4-FFF2-40B4-BE49-F238E27FC236}">
                <a16:creationId xmlns:a16="http://schemas.microsoft.com/office/drawing/2014/main" id="{BAA75C51-C4B7-42EE-92AF-F0DE33380EF4}"/>
              </a:ext>
            </a:extLst>
          </p:cNvPr>
          <p:cNvSpPr/>
          <p:nvPr/>
        </p:nvSpPr>
        <p:spPr>
          <a:xfrm>
            <a:off x="1044817" y="5052520"/>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6982E85C-8986-4CB5-AFA4-50A34D0C2A57}"/>
              </a:ext>
            </a:extLst>
          </p:cNvPr>
          <p:cNvSpPr/>
          <p:nvPr/>
        </p:nvSpPr>
        <p:spPr>
          <a:xfrm>
            <a:off x="2189912" y="5035880"/>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250ADAFB-1D9B-4783-B8D5-4DDC9E7B8D96}"/>
              </a:ext>
            </a:extLst>
          </p:cNvPr>
          <p:cNvSpPr/>
          <p:nvPr/>
        </p:nvSpPr>
        <p:spPr>
          <a:xfrm>
            <a:off x="3397960" y="5028257"/>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1BA31D4F-FA16-4BFC-BEF3-B57E6A2E52C4}"/>
              </a:ext>
            </a:extLst>
          </p:cNvPr>
          <p:cNvSpPr/>
          <p:nvPr/>
        </p:nvSpPr>
        <p:spPr>
          <a:xfrm>
            <a:off x="4674309" y="5028257"/>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7A816B4-D417-41F4-936E-73F9D4D76877}"/>
              </a:ext>
            </a:extLst>
          </p:cNvPr>
          <p:cNvSpPr txBox="1"/>
          <p:nvPr/>
        </p:nvSpPr>
        <p:spPr>
          <a:xfrm>
            <a:off x="6400800" y="4741562"/>
            <a:ext cx="5423717" cy="923330"/>
          </a:xfrm>
          <a:prstGeom prst="rect">
            <a:avLst/>
          </a:prstGeom>
          <a:noFill/>
        </p:spPr>
        <p:txBody>
          <a:bodyPr wrap="square" rtlCol="0">
            <a:spAutoFit/>
          </a:bodyPr>
          <a:lstStyle/>
          <a:p>
            <a:r>
              <a:rPr lang="zh-CN" altLang="en-US" dirty="0"/>
              <a:t>选取的形状特征值为纵横轴比，矩形度，面积凹凸比，周长凹凸比，球形性，圆形度，偏心率，形状参数</a:t>
            </a:r>
            <a:r>
              <a:rPr lang="en-US" altLang="zh-CN" dirty="0"/>
              <a:t>8</a:t>
            </a:r>
            <a:r>
              <a:rPr lang="zh-CN" altLang="en-US" dirty="0"/>
              <a:t>个参数</a:t>
            </a:r>
          </a:p>
        </p:txBody>
      </p:sp>
    </p:spTree>
    <p:extLst>
      <p:ext uri="{BB962C8B-B14F-4D97-AF65-F5344CB8AC3E}">
        <p14:creationId xmlns:p14="http://schemas.microsoft.com/office/powerpoint/2010/main" val="1473390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4326AE0-B779-4452-B403-5F949995CC35}"/>
              </a:ext>
            </a:extLst>
          </p:cNvPr>
          <p:cNvSpPr txBox="1"/>
          <p:nvPr/>
        </p:nvSpPr>
        <p:spPr>
          <a:xfrm>
            <a:off x="733778" y="361244"/>
            <a:ext cx="4334933" cy="646331"/>
          </a:xfrm>
          <a:prstGeom prst="rect">
            <a:avLst/>
          </a:prstGeom>
          <a:noFill/>
        </p:spPr>
        <p:txBody>
          <a:bodyPr wrap="square" rtlCol="0">
            <a:spAutoFit/>
          </a:bodyPr>
          <a:lstStyle/>
          <a:p>
            <a:r>
              <a:rPr lang="en-US" altLang="zh-CN" dirty="0"/>
              <a:t>HOG</a:t>
            </a:r>
            <a:r>
              <a:rPr lang="zh-CN" altLang="en-US" dirty="0"/>
              <a:t>对植物叶片提取原理</a:t>
            </a:r>
            <a:endParaRPr lang="en-US" altLang="zh-CN" dirty="0"/>
          </a:p>
          <a:p>
            <a:endParaRPr lang="en-US" altLang="zh-CN" dirty="0"/>
          </a:p>
        </p:txBody>
      </p:sp>
      <p:pic>
        <p:nvPicPr>
          <p:cNvPr id="6" name="图片 5">
            <a:extLst>
              <a:ext uri="{FF2B5EF4-FFF2-40B4-BE49-F238E27FC236}">
                <a16:creationId xmlns:a16="http://schemas.microsoft.com/office/drawing/2014/main" id="{C3B9FF3C-A886-4328-8C25-CF996123605A}"/>
              </a:ext>
            </a:extLst>
          </p:cNvPr>
          <p:cNvPicPr>
            <a:picLocks noChangeAspect="1"/>
          </p:cNvPicPr>
          <p:nvPr/>
        </p:nvPicPr>
        <p:blipFill rotWithShape="1">
          <a:blip r:embed="rId2">
            <a:extLst>
              <a:ext uri="{28A0092B-C50C-407E-A947-70E740481C1C}">
                <a14:useLocalDpi xmlns:a14="http://schemas.microsoft.com/office/drawing/2010/main" val="0"/>
              </a:ext>
            </a:extLst>
          </a:blip>
          <a:srcRect t="4500" b="8228"/>
          <a:stretch/>
        </p:blipFill>
        <p:spPr>
          <a:xfrm>
            <a:off x="8890105" y="113997"/>
            <a:ext cx="2737697" cy="3493911"/>
          </a:xfrm>
          <a:prstGeom prst="rect">
            <a:avLst/>
          </a:prstGeom>
        </p:spPr>
      </p:pic>
      <p:graphicFrame>
        <p:nvGraphicFramePr>
          <p:cNvPr id="8" name="表格 7">
            <a:extLst>
              <a:ext uri="{FF2B5EF4-FFF2-40B4-BE49-F238E27FC236}">
                <a16:creationId xmlns:a16="http://schemas.microsoft.com/office/drawing/2014/main" id="{6355BDF2-FAA6-44F9-9978-48C42C68AD22}"/>
              </a:ext>
            </a:extLst>
          </p:cNvPr>
          <p:cNvGraphicFramePr>
            <a:graphicFrameLocks noGrp="1"/>
          </p:cNvGraphicFramePr>
          <p:nvPr>
            <p:extLst>
              <p:ext uri="{D42A27DB-BD31-4B8C-83A1-F6EECF244321}">
                <p14:modId xmlns:p14="http://schemas.microsoft.com/office/powerpoint/2010/main" val="2453351076"/>
              </p:ext>
            </p:extLst>
          </p:nvPr>
        </p:nvGraphicFramePr>
        <p:xfrm>
          <a:off x="8277755" y="268308"/>
          <a:ext cx="3716690" cy="3136096"/>
        </p:xfrm>
        <a:graphic>
          <a:graphicData uri="http://schemas.openxmlformats.org/drawingml/2006/table">
            <a:tbl>
              <a:tblPr firstRow="1" bandRow="1">
                <a:tableStyleId>{5C22544A-7EE6-4342-B048-85BDC9FD1C3A}</a:tableStyleId>
              </a:tblPr>
              <a:tblGrid>
                <a:gridCol w="371669">
                  <a:extLst>
                    <a:ext uri="{9D8B030D-6E8A-4147-A177-3AD203B41FA5}">
                      <a16:colId xmlns:a16="http://schemas.microsoft.com/office/drawing/2014/main" val="993659432"/>
                    </a:ext>
                  </a:extLst>
                </a:gridCol>
                <a:gridCol w="371669">
                  <a:extLst>
                    <a:ext uri="{9D8B030D-6E8A-4147-A177-3AD203B41FA5}">
                      <a16:colId xmlns:a16="http://schemas.microsoft.com/office/drawing/2014/main" val="4262914030"/>
                    </a:ext>
                  </a:extLst>
                </a:gridCol>
                <a:gridCol w="371669">
                  <a:extLst>
                    <a:ext uri="{9D8B030D-6E8A-4147-A177-3AD203B41FA5}">
                      <a16:colId xmlns:a16="http://schemas.microsoft.com/office/drawing/2014/main" val="503330469"/>
                    </a:ext>
                  </a:extLst>
                </a:gridCol>
                <a:gridCol w="371669">
                  <a:extLst>
                    <a:ext uri="{9D8B030D-6E8A-4147-A177-3AD203B41FA5}">
                      <a16:colId xmlns:a16="http://schemas.microsoft.com/office/drawing/2014/main" val="3570714988"/>
                    </a:ext>
                  </a:extLst>
                </a:gridCol>
                <a:gridCol w="371669">
                  <a:extLst>
                    <a:ext uri="{9D8B030D-6E8A-4147-A177-3AD203B41FA5}">
                      <a16:colId xmlns:a16="http://schemas.microsoft.com/office/drawing/2014/main" val="3492516816"/>
                    </a:ext>
                  </a:extLst>
                </a:gridCol>
                <a:gridCol w="371669">
                  <a:extLst>
                    <a:ext uri="{9D8B030D-6E8A-4147-A177-3AD203B41FA5}">
                      <a16:colId xmlns:a16="http://schemas.microsoft.com/office/drawing/2014/main" val="3404964621"/>
                    </a:ext>
                  </a:extLst>
                </a:gridCol>
                <a:gridCol w="371669">
                  <a:extLst>
                    <a:ext uri="{9D8B030D-6E8A-4147-A177-3AD203B41FA5}">
                      <a16:colId xmlns:a16="http://schemas.microsoft.com/office/drawing/2014/main" val="2685284394"/>
                    </a:ext>
                  </a:extLst>
                </a:gridCol>
                <a:gridCol w="371669">
                  <a:extLst>
                    <a:ext uri="{9D8B030D-6E8A-4147-A177-3AD203B41FA5}">
                      <a16:colId xmlns:a16="http://schemas.microsoft.com/office/drawing/2014/main" val="419129752"/>
                    </a:ext>
                  </a:extLst>
                </a:gridCol>
                <a:gridCol w="371669">
                  <a:extLst>
                    <a:ext uri="{9D8B030D-6E8A-4147-A177-3AD203B41FA5}">
                      <a16:colId xmlns:a16="http://schemas.microsoft.com/office/drawing/2014/main" val="950882790"/>
                    </a:ext>
                  </a:extLst>
                </a:gridCol>
                <a:gridCol w="371669">
                  <a:extLst>
                    <a:ext uri="{9D8B030D-6E8A-4147-A177-3AD203B41FA5}">
                      <a16:colId xmlns:a16="http://schemas.microsoft.com/office/drawing/2014/main" val="1071519705"/>
                    </a:ext>
                  </a:extLst>
                </a:gridCol>
              </a:tblGrid>
              <a:tr h="392012">
                <a:tc>
                  <a:txBody>
                    <a:bodyPr/>
                    <a:lstStyle/>
                    <a:p>
                      <a:endParaRPr lang="zh-CN" altLang="en-US" dirty="0"/>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tc>
                  <a:txBody>
                    <a:bodyPr/>
                    <a:lstStyle/>
                    <a:p>
                      <a:endParaRPr lang="zh-CN" altLang="en-US" dirty="0"/>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extLst>
                  <a:ext uri="{0D108BD9-81ED-4DB2-BD59-A6C34878D82A}">
                    <a16:rowId xmlns:a16="http://schemas.microsoft.com/office/drawing/2014/main" val="2548801906"/>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extLst>
                  <a:ext uri="{0D108BD9-81ED-4DB2-BD59-A6C34878D82A}">
                    <a16:rowId xmlns:a16="http://schemas.microsoft.com/office/drawing/2014/main" val="3450209804"/>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extLst>
                  <a:ext uri="{0D108BD9-81ED-4DB2-BD59-A6C34878D82A}">
                    <a16:rowId xmlns:a16="http://schemas.microsoft.com/office/drawing/2014/main" val="1078454149"/>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extLst>
                  <a:ext uri="{0D108BD9-81ED-4DB2-BD59-A6C34878D82A}">
                    <a16:rowId xmlns:a16="http://schemas.microsoft.com/office/drawing/2014/main" val="919591150"/>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extLst>
                  <a:ext uri="{0D108BD9-81ED-4DB2-BD59-A6C34878D82A}">
                    <a16:rowId xmlns:a16="http://schemas.microsoft.com/office/drawing/2014/main" val="3856044384"/>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extLst>
                  <a:ext uri="{0D108BD9-81ED-4DB2-BD59-A6C34878D82A}">
                    <a16:rowId xmlns:a16="http://schemas.microsoft.com/office/drawing/2014/main" val="2625800808"/>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extLst>
                  <a:ext uri="{0D108BD9-81ED-4DB2-BD59-A6C34878D82A}">
                    <a16:rowId xmlns:a16="http://schemas.microsoft.com/office/drawing/2014/main" val="3613978900"/>
                  </a:ext>
                </a:extLst>
              </a:tr>
              <a:tr h="392012">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a:p>
                  </a:txBody>
                  <a:tcPr>
                    <a:solidFill>
                      <a:srgbClr val="FF0000">
                        <a:alpha val="30000"/>
                      </a:srgbClr>
                    </a:solidFill>
                  </a:tcPr>
                </a:tc>
                <a:tc>
                  <a:txBody>
                    <a:bodyPr/>
                    <a:lstStyle/>
                    <a:p>
                      <a:endParaRPr lang="zh-CN" altLang="en-US" dirty="0"/>
                    </a:p>
                  </a:txBody>
                  <a:tcPr>
                    <a:solidFill>
                      <a:srgbClr val="FF0000">
                        <a:alpha val="30000"/>
                      </a:srgbClr>
                    </a:solidFill>
                  </a:tcPr>
                </a:tc>
                <a:extLst>
                  <a:ext uri="{0D108BD9-81ED-4DB2-BD59-A6C34878D82A}">
                    <a16:rowId xmlns:a16="http://schemas.microsoft.com/office/drawing/2014/main" val="3913964159"/>
                  </a:ext>
                </a:extLst>
              </a:tr>
            </a:tbl>
          </a:graphicData>
        </a:graphic>
      </p:graphicFrame>
      <p:pic>
        <p:nvPicPr>
          <p:cNvPr id="9" name="图片 8">
            <a:extLst>
              <a:ext uri="{FF2B5EF4-FFF2-40B4-BE49-F238E27FC236}">
                <a16:creationId xmlns:a16="http://schemas.microsoft.com/office/drawing/2014/main" id="{8FDD50D2-E4B1-423E-9C21-5B8EC7D8447D}"/>
              </a:ext>
            </a:extLst>
          </p:cNvPr>
          <p:cNvPicPr>
            <a:picLocks noChangeAspect="1"/>
          </p:cNvPicPr>
          <p:nvPr/>
        </p:nvPicPr>
        <p:blipFill>
          <a:blip r:embed="rId3"/>
          <a:stretch>
            <a:fillRect/>
          </a:stretch>
        </p:blipFill>
        <p:spPr>
          <a:xfrm>
            <a:off x="7586309" y="4047674"/>
            <a:ext cx="4126339" cy="2517422"/>
          </a:xfrm>
          <a:prstGeom prst="rect">
            <a:avLst/>
          </a:prstGeom>
        </p:spPr>
      </p:pic>
      <p:sp>
        <p:nvSpPr>
          <p:cNvPr id="10" name="文本框 9">
            <a:extLst>
              <a:ext uri="{FF2B5EF4-FFF2-40B4-BE49-F238E27FC236}">
                <a16:creationId xmlns:a16="http://schemas.microsoft.com/office/drawing/2014/main" id="{3ED5DB23-4903-4498-B7F0-F45B87E00880}"/>
              </a:ext>
            </a:extLst>
          </p:cNvPr>
          <p:cNvSpPr txBox="1"/>
          <p:nvPr/>
        </p:nvSpPr>
        <p:spPr>
          <a:xfrm>
            <a:off x="587022" y="903111"/>
            <a:ext cx="5847645" cy="3693319"/>
          </a:xfrm>
          <a:prstGeom prst="rect">
            <a:avLst/>
          </a:prstGeom>
          <a:noFill/>
        </p:spPr>
        <p:txBody>
          <a:bodyPr wrap="square" rtlCol="0">
            <a:spAutoFit/>
          </a:bodyPr>
          <a:lstStyle/>
          <a:p>
            <a:r>
              <a:rPr lang="zh-CN" altLang="en-US" dirty="0"/>
              <a:t>在图处理过程中，首先将图按照像素分为一个一个的</a:t>
            </a:r>
            <a:r>
              <a:rPr lang="en-US" altLang="zh-CN" dirty="0"/>
              <a:t>cell</a:t>
            </a:r>
            <a:r>
              <a:rPr lang="zh-CN" altLang="en-US" dirty="0"/>
              <a:t>对于</a:t>
            </a:r>
            <a:r>
              <a:rPr lang="en-US" altLang="zh-CN" dirty="0"/>
              <a:t>64*128</a:t>
            </a:r>
            <a:r>
              <a:rPr lang="zh-CN" altLang="en-US" dirty="0"/>
              <a:t>的图像而言，每</a:t>
            </a:r>
            <a:r>
              <a:rPr lang="en-US" altLang="zh-CN" dirty="0"/>
              <a:t>8*8</a:t>
            </a:r>
            <a:r>
              <a:rPr lang="zh-CN" altLang="en-US" dirty="0"/>
              <a:t>的像素组成一个</a:t>
            </a:r>
            <a:r>
              <a:rPr lang="en-US" altLang="zh-CN" dirty="0"/>
              <a:t>cell</a:t>
            </a:r>
            <a:r>
              <a:rPr lang="zh-CN" altLang="en-US" dirty="0"/>
              <a:t>，每</a:t>
            </a:r>
            <a:r>
              <a:rPr lang="en-US" altLang="zh-CN" dirty="0"/>
              <a:t>2*2</a:t>
            </a:r>
            <a:r>
              <a:rPr lang="zh-CN" altLang="en-US" dirty="0"/>
              <a:t>个</a:t>
            </a:r>
            <a:r>
              <a:rPr lang="en-US" altLang="zh-CN" dirty="0"/>
              <a:t>cell</a:t>
            </a:r>
            <a:r>
              <a:rPr lang="zh-CN" altLang="en-US" dirty="0"/>
              <a:t>组成一个块，以</a:t>
            </a:r>
            <a:r>
              <a:rPr lang="en-US" altLang="zh-CN" dirty="0"/>
              <a:t>8</a:t>
            </a:r>
            <a:r>
              <a:rPr lang="zh-CN" altLang="en-US" dirty="0"/>
              <a:t>个像素为步长，那么，水平方向将有</a:t>
            </a:r>
            <a:r>
              <a:rPr lang="en-US" altLang="zh-CN" dirty="0"/>
              <a:t>7</a:t>
            </a:r>
            <a:r>
              <a:rPr lang="zh-CN" altLang="en-US" dirty="0"/>
              <a:t>个扫描窗口，垂直方向将有</a:t>
            </a:r>
            <a:r>
              <a:rPr lang="en-US" altLang="zh-CN" dirty="0"/>
              <a:t>15</a:t>
            </a:r>
            <a:r>
              <a:rPr lang="zh-CN" altLang="en-US" dirty="0"/>
              <a:t>个扫描窗口。也就是说，</a:t>
            </a:r>
            <a:r>
              <a:rPr lang="en-US" altLang="zh-CN" dirty="0"/>
              <a:t>64*128</a:t>
            </a:r>
            <a:r>
              <a:rPr lang="zh-CN" altLang="en-US" dirty="0"/>
              <a:t>的图片，总共有</a:t>
            </a:r>
            <a:r>
              <a:rPr lang="en-US" altLang="zh-CN" dirty="0"/>
              <a:t>36*7*15=3780</a:t>
            </a:r>
            <a:r>
              <a:rPr lang="zh-CN" altLang="en-US" dirty="0"/>
              <a:t>个特征</a:t>
            </a:r>
            <a:endParaRPr lang="en-US" altLang="zh-CN" dirty="0"/>
          </a:p>
          <a:p>
            <a:endParaRPr lang="en-US" altLang="zh-CN" dirty="0"/>
          </a:p>
          <a:p>
            <a:endParaRPr lang="en-US" altLang="zh-CN" dirty="0"/>
          </a:p>
          <a:p>
            <a:endParaRPr lang="en-US" altLang="zh-CN" dirty="0"/>
          </a:p>
          <a:p>
            <a:r>
              <a:rPr lang="zh-CN" altLang="en-US" dirty="0"/>
              <a:t>独将其中一个</a:t>
            </a:r>
            <a:r>
              <a:rPr lang="en-US" altLang="zh-CN" dirty="0"/>
              <a:t>8*8</a:t>
            </a:r>
            <a:r>
              <a:rPr lang="zh-CN" altLang="en-US" dirty="0"/>
              <a:t>的小格拿出来，方向梯度中指的方向范围为</a:t>
            </a:r>
            <a:r>
              <a:rPr lang="en-US" altLang="zh-CN" dirty="0"/>
              <a:t>2π</a:t>
            </a:r>
            <a:r>
              <a:rPr lang="zh-CN" altLang="en-US" dirty="0"/>
              <a:t>，</a:t>
            </a:r>
            <a:r>
              <a:rPr lang="en-US" altLang="zh-CN" dirty="0"/>
              <a:t>360°</a:t>
            </a:r>
            <a:r>
              <a:rPr lang="zh-CN" altLang="en-US" dirty="0"/>
              <a:t>，右图为</a:t>
            </a:r>
            <a:r>
              <a:rPr lang="en-US" altLang="zh-CN" dirty="0"/>
              <a:t>8*8</a:t>
            </a:r>
            <a:r>
              <a:rPr lang="zh-CN" altLang="en-US" dirty="0"/>
              <a:t>像素的</a:t>
            </a:r>
            <a:r>
              <a:rPr lang="en-US" altLang="zh-CN" dirty="0"/>
              <a:t>cell</a:t>
            </a:r>
            <a:r>
              <a:rPr lang="zh-CN" altLang="en-US" dirty="0"/>
              <a:t>对应的方向梯度</a:t>
            </a:r>
            <a:endParaRPr lang="en-US" altLang="zh-CN" dirty="0"/>
          </a:p>
          <a:p>
            <a:endParaRPr lang="en-US" altLang="zh-CN" dirty="0"/>
          </a:p>
          <a:p>
            <a:r>
              <a:rPr lang="zh-CN" altLang="en-US" dirty="0"/>
              <a:t>然后通过直方图将这个</a:t>
            </a:r>
            <a:r>
              <a:rPr lang="en-US" altLang="zh-CN" dirty="0"/>
              <a:t>cell</a:t>
            </a:r>
            <a:r>
              <a:rPr lang="zh-CN" altLang="en-US" dirty="0"/>
              <a:t>的方向，按着直方图的参数设置进行画图，其中梯度的大小在统计数量中呈线性关系</a:t>
            </a:r>
          </a:p>
        </p:txBody>
      </p:sp>
      <p:pic>
        <p:nvPicPr>
          <p:cNvPr id="13" name="图片 12">
            <a:extLst>
              <a:ext uri="{FF2B5EF4-FFF2-40B4-BE49-F238E27FC236}">
                <a16:creationId xmlns:a16="http://schemas.microsoft.com/office/drawing/2014/main" id="{E8819CDE-232F-4233-81F7-E2FB885E7A29}"/>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Lst>
          </a:blip>
          <a:stretch>
            <a:fillRect/>
          </a:stretch>
        </p:blipFill>
        <p:spPr>
          <a:xfrm>
            <a:off x="733778" y="4638578"/>
            <a:ext cx="3296379" cy="1926518"/>
          </a:xfrm>
          <a:prstGeom prst="rect">
            <a:avLst/>
          </a:prstGeom>
        </p:spPr>
      </p:pic>
    </p:spTree>
    <p:extLst>
      <p:ext uri="{BB962C8B-B14F-4D97-AF65-F5344CB8AC3E}">
        <p14:creationId xmlns:p14="http://schemas.microsoft.com/office/powerpoint/2010/main" val="340370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FE12B9E5-3833-42C4-A01E-CEFE4C63A4D3}"/>
              </a:ext>
            </a:extLst>
          </p:cNvPr>
          <p:cNvSpPr txBox="1"/>
          <p:nvPr/>
        </p:nvSpPr>
        <p:spPr>
          <a:xfrm>
            <a:off x="496711" y="255812"/>
            <a:ext cx="10258777" cy="2308324"/>
          </a:xfrm>
          <a:prstGeom prst="rect">
            <a:avLst/>
          </a:prstGeom>
          <a:noFill/>
        </p:spPr>
        <p:txBody>
          <a:bodyPr wrap="square" rtlCol="0">
            <a:spAutoFit/>
          </a:bodyPr>
          <a:lstStyle/>
          <a:p>
            <a:r>
              <a:rPr lang="en-US" altLang="zh-CN" dirty="0"/>
              <a:t>2</a:t>
            </a:r>
            <a:r>
              <a:rPr lang="zh-CN" altLang="en-US" dirty="0"/>
              <a:t>：叶脉特征提取</a:t>
            </a:r>
            <a:endParaRPr lang="en-US" altLang="zh-CN" dirty="0"/>
          </a:p>
          <a:p>
            <a:r>
              <a:rPr lang="zh-CN" altLang="en-US" dirty="0"/>
              <a:t>叶片的叶脉特征的提取是采用</a:t>
            </a:r>
            <a:r>
              <a:rPr lang="en-US" altLang="zh-CN" dirty="0"/>
              <a:t>canny</a:t>
            </a:r>
            <a:r>
              <a:rPr lang="zh-CN" altLang="en-US" dirty="0"/>
              <a:t>算子提取边缘特征，然后在通过霍夫变换提取叶脉的角度特征，来实现叶脉的特征提取，通过计算叶脉端点的数量，叶脉分岔点数量，端点到中心点的距离方差，分岔点到中心点距离方差这</a:t>
            </a:r>
            <a:r>
              <a:rPr lang="en-US" altLang="zh-CN" dirty="0"/>
              <a:t>4</a:t>
            </a:r>
            <a:r>
              <a:rPr lang="zh-CN" altLang="en-US" dirty="0"/>
              <a:t>个作为特征向量</a:t>
            </a:r>
          </a:p>
          <a:p>
            <a:endParaRPr lang="en-US" altLang="zh-CN" dirty="0"/>
          </a:p>
          <a:p>
            <a:br>
              <a:rPr lang="en-US" altLang="zh-CN" dirty="0"/>
            </a:br>
            <a:endParaRPr lang="en-US" altLang="zh-CN" dirty="0"/>
          </a:p>
          <a:p>
            <a:endParaRPr lang="en-US" altLang="zh-CN" dirty="0"/>
          </a:p>
        </p:txBody>
      </p:sp>
      <p:sp>
        <p:nvSpPr>
          <p:cNvPr id="9" name="矩形 8">
            <a:extLst>
              <a:ext uri="{FF2B5EF4-FFF2-40B4-BE49-F238E27FC236}">
                <a16:creationId xmlns:a16="http://schemas.microsoft.com/office/drawing/2014/main" id="{632E99B6-4689-45D8-B491-21E275D7CC37}"/>
              </a:ext>
            </a:extLst>
          </p:cNvPr>
          <p:cNvSpPr/>
          <p:nvPr/>
        </p:nvSpPr>
        <p:spPr>
          <a:xfrm>
            <a:off x="1436512" y="1626515"/>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58B5CB8-3C84-45FC-BD85-D3A20DAC3459}"/>
              </a:ext>
            </a:extLst>
          </p:cNvPr>
          <p:cNvSpPr txBox="1"/>
          <p:nvPr/>
        </p:nvSpPr>
        <p:spPr>
          <a:xfrm>
            <a:off x="1539291" y="1829714"/>
            <a:ext cx="461665" cy="1264355"/>
          </a:xfrm>
          <a:prstGeom prst="rect">
            <a:avLst/>
          </a:prstGeom>
          <a:noFill/>
        </p:spPr>
        <p:txBody>
          <a:bodyPr vert="eaVert" wrap="square" rtlCol="0">
            <a:spAutoFit/>
          </a:bodyPr>
          <a:lstStyle/>
          <a:p>
            <a:r>
              <a:rPr lang="zh-CN" altLang="en-US" dirty="0"/>
              <a:t>输入图像</a:t>
            </a:r>
          </a:p>
        </p:txBody>
      </p:sp>
      <p:sp>
        <p:nvSpPr>
          <p:cNvPr id="11" name="矩形 10">
            <a:extLst>
              <a:ext uri="{FF2B5EF4-FFF2-40B4-BE49-F238E27FC236}">
                <a16:creationId xmlns:a16="http://schemas.microsoft.com/office/drawing/2014/main" id="{2C474BF4-8AB2-495C-8301-AF2C7A23DAA5}"/>
              </a:ext>
            </a:extLst>
          </p:cNvPr>
          <p:cNvSpPr/>
          <p:nvPr/>
        </p:nvSpPr>
        <p:spPr>
          <a:xfrm>
            <a:off x="2581607" y="1649094"/>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51FD7F5-C552-4634-8F7F-87113CE118A8}"/>
              </a:ext>
            </a:extLst>
          </p:cNvPr>
          <p:cNvSpPr txBox="1"/>
          <p:nvPr/>
        </p:nvSpPr>
        <p:spPr>
          <a:xfrm>
            <a:off x="2684386" y="1852293"/>
            <a:ext cx="461665" cy="1264355"/>
          </a:xfrm>
          <a:prstGeom prst="rect">
            <a:avLst/>
          </a:prstGeom>
          <a:noFill/>
        </p:spPr>
        <p:txBody>
          <a:bodyPr vert="eaVert" wrap="square" rtlCol="0">
            <a:spAutoFit/>
          </a:bodyPr>
          <a:lstStyle/>
          <a:p>
            <a:r>
              <a:rPr lang="zh-CN" altLang="en-US" dirty="0"/>
              <a:t>计算梯度</a:t>
            </a:r>
          </a:p>
        </p:txBody>
      </p:sp>
      <p:sp>
        <p:nvSpPr>
          <p:cNvPr id="13" name="矩形 12">
            <a:extLst>
              <a:ext uri="{FF2B5EF4-FFF2-40B4-BE49-F238E27FC236}">
                <a16:creationId xmlns:a16="http://schemas.microsoft.com/office/drawing/2014/main" id="{036380DE-4A56-4703-9060-1C4E266EE0FD}"/>
              </a:ext>
            </a:extLst>
          </p:cNvPr>
          <p:cNvSpPr/>
          <p:nvPr/>
        </p:nvSpPr>
        <p:spPr>
          <a:xfrm>
            <a:off x="3719303" y="1637801"/>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59A0DFC9-03C0-4D2B-BB7F-08C73FB5C4B2}"/>
              </a:ext>
            </a:extLst>
          </p:cNvPr>
          <p:cNvSpPr txBox="1"/>
          <p:nvPr/>
        </p:nvSpPr>
        <p:spPr>
          <a:xfrm>
            <a:off x="3661621" y="1767920"/>
            <a:ext cx="738664" cy="1490133"/>
          </a:xfrm>
          <a:prstGeom prst="rect">
            <a:avLst/>
          </a:prstGeom>
          <a:noFill/>
        </p:spPr>
        <p:txBody>
          <a:bodyPr vert="eaVert" wrap="square" rtlCol="0">
            <a:spAutoFit/>
          </a:bodyPr>
          <a:lstStyle/>
          <a:p>
            <a:r>
              <a:rPr lang="en-US" altLang="zh-CN" dirty="0"/>
              <a:t>Canny</a:t>
            </a:r>
            <a:r>
              <a:rPr lang="zh-CN" altLang="en-US" dirty="0"/>
              <a:t>算子检测叶脉边缘</a:t>
            </a:r>
          </a:p>
        </p:txBody>
      </p:sp>
      <p:sp>
        <p:nvSpPr>
          <p:cNvPr id="15" name="矩形 14">
            <a:extLst>
              <a:ext uri="{FF2B5EF4-FFF2-40B4-BE49-F238E27FC236}">
                <a16:creationId xmlns:a16="http://schemas.microsoft.com/office/drawing/2014/main" id="{09964AA2-A636-45F4-B0D3-298DE474B691}"/>
              </a:ext>
            </a:extLst>
          </p:cNvPr>
          <p:cNvSpPr/>
          <p:nvPr/>
        </p:nvSpPr>
        <p:spPr>
          <a:xfrm>
            <a:off x="5008856" y="1649093"/>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DDDD1A-46A6-4FEE-BA96-6321279A40DE}"/>
              </a:ext>
            </a:extLst>
          </p:cNvPr>
          <p:cNvSpPr txBox="1"/>
          <p:nvPr/>
        </p:nvSpPr>
        <p:spPr>
          <a:xfrm>
            <a:off x="4964811" y="1767920"/>
            <a:ext cx="738664" cy="1264355"/>
          </a:xfrm>
          <a:prstGeom prst="rect">
            <a:avLst/>
          </a:prstGeom>
          <a:noFill/>
        </p:spPr>
        <p:txBody>
          <a:bodyPr vert="eaVert" wrap="square" rtlCol="0">
            <a:spAutoFit/>
          </a:bodyPr>
          <a:lstStyle/>
          <a:p>
            <a:r>
              <a:rPr lang="zh-CN" altLang="en-US" dirty="0"/>
              <a:t>霍夫变换求直线</a:t>
            </a:r>
          </a:p>
        </p:txBody>
      </p:sp>
      <p:sp>
        <p:nvSpPr>
          <p:cNvPr id="17" name="矩形 16">
            <a:extLst>
              <a:ext uri="{FF2B5EF4-FFF2-40B4-BE49-F238E27FC236}">
                <a16:creationId xmlns:a16="http://schemas.microsoft.com/office/drawing/2014/main" id="{8375DB0A-906F-4C96-A1D7-EEDEFDE6A087}"/>
              </a:ext>
            </a:extLst>
          </p:cNvPr>
          <p:cNvSpPr/>
          <p:nvPr/>
        </p:nvSpPr>
        <p:spPr>
          <a:xfrm>
            <a:off x="6198172" y="1389449"/>
            <a:ext cx="772514" cy="17763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C428EA46-E63E-4E06-B8DC-725710538E46}"/>
              </a:ext>
            </a:extLst>
          </p:cNvPr>
          <p:cNvSpPr txBox="1"/>
          <p:nvPr/>
        </p:nvSpPr>
        <p:spPr>
          <a:xfrm>
            <a:off x="6181954" y="1437720"/>
            <a:ext cx="738664" cy="1909510"/>
          </a:xfrm>
          <a:prstGeom prst="rect">
            <a:avLst/>
          </a:prstGeom>
          <a:noFill/>
        </p:spPr>
        <p:txBody>
          <a:bodyPr vert="eaVert" wrap="square" rtlCol="0">
            <a:spAutoFit/>
          </a:bodyPr>
          <a:lstStyle/>
          <a:p>
            <a:r>
              <a:rPr lang="zh-CN" altLang="en-US" dirty="0"/>
              <a:t>计算叶脉之间的角度特征</a:t>
            </a:r>
          </a:p>
        </p:txBody>
      </p:sp>
      <p:sp>
        <p:nvSpPr>
          <p:cNvPr id="19" name="箭头: 右 18">
            <a:extLst>
              <a:ext uri="{FF2B5EF4-FFF2-40B4-BE49-F238E27FC236}">
                <a16:creationId xmlns:a16="http://schemas.microsoft.com/office/drawing/2014/main" id="{95A16D5E-63CC-4AA7-B871-71B32DC1882A}"/>
              </a:ext>
            </a:extLst>
          </p:cNvPr>
          <p:cNvSpPr/>
          <p:nvPr/>
        </p:nvSpPr>
        <p:spPr>
          <a:xfrm>
            <a:off x="2113846" y="2258694"/>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59B4CAFF-2345-493F-AB2C-331473CF2C72}"/>
              </a:ext>
            </a:extLst>
          </p:cNvPr>
          <p:cNvSpPr/>
          <p:nvPr/>
        </p:nvSpPr>
        <p:spPr>
          <a:xfrm>
            <a:off x="3258941" y="2242054"/>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6994EA99-737A-4579-BA3B-904691437D25}"/>
              </a:ext>
            </a:extLst>
          </p:cNvPr>
          <p:cNvSpPr/>
          <p:nvPr/>
        </p:nvSpPr>
        <p:spPr>
          <a:xfrm>
            <a:off x="4466989" y="2234431"/>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C146EAE3-D1A6-4E32-87BD-2BC978FC9EDD}"/>
              </a:ext>
            </a:extLst>
          </p:cNvPr>
          <p:cNvSpPr/>
          <p:nvPr/>
        </p:nvSpPr>
        <p:spPr>
          <a:xfrm>
            <a:off x="5743338" y="2234431"/>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B1159CC1-E41F-4BBC-9869-E3B6B1F0B7AE}"/>
              </a:ext>
            </a:extLst>
          </p:cNvPr>
          <p:cNvPicPr>
            <a:picLocks noChangeAspect="1"/>
          </p:cNvPicPr>
          <p:nvPr/>
        </p:nvPicPr>
        <p:blipFill>
          <a:blip r:embed="rId2"/>
          <a:stretch>
            <a:fillRect/>
          </a:stretch>
        </p:blipFill>
        <p:spPr>
          <a:xfrm>
            <a:off x="598428" y="3718298"/>
            <a:ext cx="1881725" cy="2165526"/>
          </a:xfrm>
          <a:prstGeom prst="rect">
            <a:avLst/>
          </a:prstGeom>
        </p:spPr>
      </p:pic>
      <p:pic>
        <p:nvPicPr>
          <p:cNvPr id="26" name="图片 25">
            <a:extLst>
              <a:ext uri="{FF2B5EF4-FFF2-40B4-BE49-F238E27FC236}">
                <a16:creationId xmlns:a16="http://schemas.microsoft.com/office/drawing/2014/main" id="{CC8F2B91-B03C-4879-B7DA-2A71EF17132B}"/>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200000"/>
                    </a14:imgEffect>
                  </a14:imgLayer>
                </a14:imgProps>
              </a:ext>
            </a:extLst>
          </a:blip>
          <a:srcRect l="19001" t="7452" r="19975" b="20947"/>
          <a:stretch/>
        </p:blipFill>
        <p:spPr>
          <a:xfrm>
            <a:off x="3037753" y="3823235"/>
            <a:ext cx="1881725" cy="2052789"/>
          </a:xfrm>
          <a:prstGeom prst="rect">
            <a:avLst/>
          </a:prstGeom>
        </p:spPr>
      </p:pic>
      <p:pic>
        <p:nvPicPr>
          <p:cNvPr id="27" name="图片 26">
            <a:extLst>
              <a:ext uri="{FF2B5EF4-FFF2-40B4-BE49-F238E27FC236}">
                <a16:creationId xmlns:a16="http://schemas.microsoft.com/office/drawing/2014/main" id="{C20A8815-CB32-419A-896D-B1A84C4C0987}"/>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200000"/>
                    </a14:imgEffect>
                  </a14:imgLayer>
                </a14:imgProps>
              </a:ext>
            </a:extLst>
          </a:blip>
          <a:srcRect l="19001" t="7452" r="19975" b="20947"/>
          <a:stretch/>
        </p:blipFill>
        <p:spPr>
          <a:xfrm>
            <a:off x="5663612" y="3774666"/>
            <a:ext cx="1881725" cy="2052789"/>
          </a:xfrm>
          <a:prstGeom prst="rect">
            <a:avLst/>
          </a:prstGeom>
        </p:spPr>
      </p:pic>
      <p:sp>
        <p:nvSpPr>
          <p:cNvPr id="28" name="矩形 27">
            <a:extLst>
              <a:ext uri="{FF2B5EF4-FFF2-40B4-BE49-F238E27FC236}">
                <a16:creationId xmlns:a16="http://schemas.microsoft.com/office/drawing/2014/main" id="{3C20C4EF-291B-40A5-8B6E-D56510B0EED5}"/>
              </a:ext>
            </a:extLst>
          </p:cNvPr>
          <p:cNvSpPr/>
          <p:nvPr/>
        </p:nvSpPr>
        <p:spPr>
          <a:xfrm rot="443933">
            <a:off x="6557107" y="3744650"/>
            <a:ext cx="94731" cy="2112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8AA26AFB-D4F0-4E76-95AB-4118F89D0FF9}"/>
              </a:ext>
            </a:extLst>
          </p:cNvPr>
          <p:cNvSpPr/>
          <p:nvPr/>
        </p:nvSpPr>
        <p:spPr>
          <a:xfrm rot="2619554">
            <a:off x="6986847" y="4305425"/>
            <a:ext cx="122925" cy="1311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68B7212A-9445-4491-AC8A-E2641999B9CF}"/>
              </a:ext>
            </a:extLst>
          </p:cNvPr>
          <p:cNvSpPr/>
          <p:nvPr/>
        </p:nvSpPr>
        <p:spPr>
          <a:xfrm rot="19303001">
            <a:off x="6056527" y="4275629"/>
            <a:ext cx="122925" cy="1311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322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D7EEC3C9-D7AA-4110-8FCC-1072FC70B153}"/>
                  </a:ext>
                </a:extLst>
              </p:cNvPr>
              <p:cNvSpPr txBox="1"/>
              <p:nvPr/>
            </p:nvSpPr>
            <p:spPr>
              <a:xfrm>
                <a:off x="143934" y="289679"/>
                <a:ext cx="10258777" cy="3970318"/>
              </a:xfrm>
              <a:prstGeom prst="rect">
                <a:avLst/>
              </a:prstGeom>
              <a:noFill/>
            </p:spPr>
            <p:txBody>
              <a:bodyPr wrap="square" rtlCol="0">
                <a:spAutoFit/>
              </a:bodyPr>
              <a:lstStyle/>
              <a:p>
                <a:r>
                  <a:rPr lang="en-US" altLang="zh-CN" dirty="0"/>
                  <a:t>3</a:t>
                </a:r>
                <a:r>
                  <a:rPr lang="zh-CN" altLang="en-US" dirty="0"/>
                  <a:t>：纹理特征提取</a:t>
                </a:r>
                <a:endParaRPr lang="en-US" altLang="zh-CN" dirty="0"/>
              </a:p>
              <a:p>
                <a:r>
                  <a:rPr lang="zh-CN" altLang="en-US" dirty="0"/>
                  <a:t>目前对纹理的研究有自相关函数，灰度共生矩阵，分形维数特征，局部二值模式特征和</a:t>
                </a:r>
                <a:r>
                  <a:rPr lang="en-US" altLang="zh-CN" dirty="0"/>
                  <a:t>Gabor</a:t>
                </a:r>
                <a:r>
                  <a:rPr lang="zh-CN" altLang="en-US" dirty="0"/>
                  <a:t>特征描述等方法，这里纹理特征采用灰度方向共生矩阵来描述</a:t>
                </a:r>
                <a:endParaRPr lang="en-US" altLang="zh-CN" dirty="0"/>
              </a:p>
              <a:p>
                <a:r>
                  <a:rPr lang="zh-CN" altLang="en-US" dirty="0"/>
                  <a:t>由于纹理是灰度分布的变化形成的，所以在空间像素两个点一定存在某种灰度关系，</a:t>
                </a:r>
                <a:br>
                  <a:rPr lang="en-US" altLang="zh-CN" dirty="0"/>
                </a:br>
                <a:endParaRPr lang="en-US" altLang="zh-CN" dirty="0"/>
              </a:p>
              <a:p>
                <a:r>
                  <a:rPr lang="zh-CN" altLang="en-US" dirty="0"/>
                  <a:t>灰度共生矩阵用</a:t>
                </a:r>
                <a14:m>
                  <m:oMath xmlns:m="http://schemas.openxmlformats.org/officeDocument/2006/math">
                    <m:sSub>
                      <m:sSubPr>
                        <m:ctrlPr>
                          <a:rPr lang="zh-CN" altLang="en-US" i="1" dirty="0">
                            <a:latin typeface="Cambria Math" panose="02040503050406030204" pitchFamily="18" charset="0"/>
                          </a:rPr>
                        </m:ctrlPr>
                      </m:sSubPr>
                      <m:e>
                        <m:r>
                          <a:rPr lang="en-US" altLang="zh-CN" b="0" i="1" dirty="0" smtClean="0">
                            <a:latin typeface="Cambria Math" panose="02040503050406030204" pitchFamily="18" charset="0"/>
                          </a:rPr>
                          <m:t>𝑃</m:t>
                        </m:r>
                      </m:e>
                      <m:sub>
                        <m:r>
                          <m:rPr>
                            <m:sty m:val="p"/>
                          </m:rPr>
                          <a:rPr lang="en-US" altLang="zh-CN" i="1" dirty="0" smtClean="0">
                            <a:latin typeface="Cambria Math" panose="02040503050406030204" pitchFamily="18" charset="0"/>
                          </a:rPr>
                          <m:t>d</m:t>
                        </m:r>
                      </m:sub>
                    </m:sSub>
                    <m:d>
                      <m:dPr>
                        <m:ctrlPr>
                          <a:rPr lang="zh-CN" altLang="en-US" i="1" dirty="0">
                            <a:latin typeface="Cambria Math" panose="02040503050406030204" pitchFamily="18" charset="0"/>
                          </a:rPr>
                        </m:ctrlPr>
                      </m:dPr>
                      <m:e>
                        <m:r>
                          <a:rPr lang="zh-CN" altLang="en-US" dirty="0">
                            <a:latin typeface="Cambria Math" panose="02040503050406030204" pitchFamily="18" charset="0"/>
                          </a:rPr>
                          <m:t>ⅈ,</m:t>
                        </m:r>
                        <m:r>
                          <a:rPr lang="zh-CN" altLang="en-US" i="1" dirty="0">
                            <a:latin typeface="Cambria Math" panose="02040503050406030204" pitchFamily="18" charset="0"/>
                          </a:rPr>
                          <m:t>𝑗</m:t>
                        </m:r>
                      </m:e>
                    </m:d>
                  </m:oMath>
                </a14:m>
                <a:r>
                  <a:rPr lang="zh-CN" altLang="en-US" dirty="0"/>
                  <a:t>表示，这里的</a:t>
                </a:r>
                <a:r>
                  <a:rPr lang="en-US" altLang="zh-CN" dirty="0"/>
                  <a:t>d</a:t>
                </a:r>
                <a:r>
                  <a:rPr lang="zh-CN" altLang="en-US" dirty="0"/>
                  <a:t>决定像素点距离和方向，</a:t>
                </a:r>
                <a:r>
                  <a:rPr lang="el-GR" altLang="zh-CN" dirty="0"/>
                  <a:t> θ</a:t>
                </a:r>
                <a:r>
                  <a:rPr lang="zh-CN" altLang="en-US" dirty="0"/>
                  <a:t>是</a:t>
                </a:r>
                <a:endParaRPr lang="en-US" altLang="zh-CN" dirty="0"/>
              </a:p>
              <a:p>
                <a:r>
                  <a:rPr lang="zh-CN" altLang="en-US" dirty="0"/>
                  <a:t>共生矩阵的生成方向，一般可以指定方向，一旦</a:t>
                </a:r>
                <a:r>
                  <a:rPr lang="en-US" altLang="zh-CN" dirty="0"/>
                  <a:t>d</a:t>
                </a:r>
                <a:r>
                  <a:rPr lang="zh-CN" altLang="en-US" dirty="0"/>
                  <a:t>选定后，就生成</a:t>
                </a:r>
                <a:endParaRPr lang="en-US" altLang="zh-CN" dirty="0"/>
              </a:p>
              <a:p>
                <a:r>
                  <a:rPr lang="zh-CN" altLang="en-US" dirty="0"/>
                  <a:t>灰度共生矩阵。</a:t>
                </a:r>
                <a:endParaRPr lang="en-US" altLang="zh-CN" dirty="0"/>
              </a:p>
              <a:p>
                <a:endParaRPr lang="en-US" altLang="zh-CN" dirty="0"/>
              </a:p>
              <a:p>
                <a:r>
                  <a:rPr lang="zh-CN" altLang="en-US" dirty="0"/>
                  <a:t>用</a:t>
                </a:r>
                <a:r>
                  <a:rPr lang="en-US" altLang="zh-CN" dirty="0"/>
                  <a:t>4</a:t>
                </a:r>
                <a:r>
                  <a:rPr lang="zh-CN" altLang="en-US" dirty="0"/>
                  <a:t>个特征值作为描述子能量，惯性矩，局部平稳，熵</a:t>
                </a:r>
                <a:endParaRPr lang="en-US" altLang="zh-CN" dirty="0"/>
              </a:p>
              <a:p>
                <a:r>
                  <a:rPr lang="en-US" altLang="zh-CN" dirty="0"/>
                  <a:t>1</a:t>
                </a:r>
                <a:r>
                  <a:rPr lang="zh-CN" altLang="en-US" dirty="0"/>
                  <a:t>：能量表示图像灰度分布的均匀性</a:t>
                </a:r>
                <a:endParaRPr lang="en-US" altLang="zh-CN" dirty="0"/>
              </a:p>
              <a:p>
                <a:r>
                  <a:rPr lang="en-US" altLang="zh-CN" dirty="0"/>
                  <a:t>2</a:t>
                </a:r>
                <a:r>
                  <a:rPr lang="zh-CN" altLang="en-US" dirty="0"/>
                  <a:t>：熵表示图像中的信息量</a:t>
                </a:r>
                <a:endParaRPr lang="en-US" altLang="zh-CN" dirty="0"/>
              </a:p>
              <a:p>
                <a:r>
                  <a:rPr lang="en-US" altLang="zh-CN" dirty="0"/>
                  <a:t>3</a:t>
                </a:r>
                <a:r>
                  <a:rPr lang="zh-CN" altLang="en-US" dirty="0"/>
                  <a:t>：惯性矩反应图像和纹理的清晰程度</a:t>
                </a:r>
                <a:endParaRPr lang="en-US" altLang="zh-CN" dirty="0"/>
              </a:p>
              <a:p>
                <a:r>
                  <a:rPr lang="en-US" altLang="zh-CN" dirty="0"/>
                  <a:t>4</a:t>
                </a:r>
                <a:r>
                  <a:rPr lang="zh-CN" altLang="en-US" dirty="0"/>
                  <a:t>：局部平稳反应图像的局部均匀性用来度量局部变化大小</a:t>
                </a:r>
                <a:endParaRPr lang="en-US" altLang="zh-CN" dirty="0"/>
              </a:p>
            </p:txBody>
          </p:sp>
        </mc:Choice>
        <mc:Fallback>
          <p:sp>
            <p:nvSpPr>
              <p:cNvPr id="4" name="文本框 3">
                <a:extLst>
                  <a:ext uri="{FF2B5EF4-FFF2-40B4-BE49-F238E27FC236}">
                    <a16:creationId xmlns:a16="http://schemas.microsoft.com/office/drawing/2014/main" id="{D7EEC3C9-D7AA-4110-8FCC-1072FC70B153}"/>
                  </a:ext>
                </a:extLst>
              </p:cNvPr>
              <p:cNvSpPr txBox="1">
                <a:spLocks noRot="1" noChangeAspect="1" noMove="1" noResize="1" noEditPoints="1" noAdjustHandles="1" noChangeArrowheads="1" noChangeShapeType="1" noTextEdit="1"/>
              </p:cNvSpPr>
              <p:nvPr/>
            </p:nvSpPr>
            <p:spPr>
              <a:xfrm>
                <a:off x="143934" y="289679"/>
                <a:ext cx="10258777" cy="3970318"/>
              </a:xfrm>
              <a:prstGeom prst="rect">
                <a:avLst/>
              </a:prstGeom>
              <a:blipFill>
                <a:blip r:embed="rId2"/>
                <a:stretch>
                  <a:fillRect l="-535" t="-922" b="-153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D2306C27-089D-4455-81D5-1DB4F5CC4D81}"/>
              </a:ext>
            </a:extLst>
          </p:cNvPr>
          <p:cNvPicPr>
            <a:picLocks noChangeAspect="1"/>
          </p:cNvPicPr>
          <p:nvPr/>
        </p:nvPicPr>
        <p:blipFill rotWithShape="1">
          <a:blip r:embed="rId3">
            <a:biLevel thresh="75000"/>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rcRect l="15719" t="6751" r="16113" b="18273"/>
          <a:stretch/>
        </p:blipFill>
        <p:spPr>
          <a:xfrm>
            <a:off x="7124707" y="1499281"/>
            <a:ext cx="2851469" cy="4586376"/>
          </a:xfrm>
          <a:prstGeom prst="rect">
            <a:avLst/>
          </a:prstGeom>
        </p:spPr>
      </p:pic>
      <p:cxnSp>
        <p:nvCxnSpPr>
          <p:cNvPr id="6" name="直接连接符 5">
            <a:extLst>
              <a:ext uri="{FF2B5EF4-FFF2-40B4-BE49-F238E27FC236}">
                <a16:creationId xmlns:a16="http://schemas.microsoft.com/office/drawing/2014/main" id="{83D83AB6-F1ED-4995-8288-5A5F9B0B80B9}"/>
              </a:ext>
            </a:extLst>
          </p:cNvPr>
          <p:cNvCxnSpPr>
            <a:cxnSpLocks/>
          </p:cNvCxnSpPr>
          <p:nvPr/>
        </p:nvCxnSpPr>
        <p:spPr>
          <a:xfrm>
            <a:off x="5273322" y="3726459"/>
            <a:ext cx="62243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76F09B9-1646-402A-8C19-B2BD232DDDF1}"/>
              </a:ext>
            </a:extLst>
          </p:cNvPr>
          <p:cNvCxnSpPr>
            <a:cxnSpLocks/>
          </p:cNvCxnSpPr>
          <p:nvPr/>
        </p:nvCxnSpPr>
        <p:spPr>
          <a:xfrm flipV="1">
            <a:off x="8550442" y="1112278"/>
            <a:ext cx="0" cy="5228363"/>
          </a:xfrm>
          <a:prstGeom prst="line">
            <a:avLst/>
          </a:prstGeom>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6BE4089-477B-45F8-B2FD-CDBA3402ABF8}"/>
              </a:ext>
            </a:extLst>
          </p:cNvPr>
          <p:cNvSpPr txBox="1"/>
          <p:nvPr/>
        </p:nvSpPr>
        <p:spPr>
          <a:xfrm>
            <a:off x="11152752" y="3792469"/>
            <a:ext cx="1011174" cy="307777"/>
          </a:xfrm>
          <a:prstGeom prst="rect">
            <a:avLst/>
          </a:prstGeom>
          <a:noFill/>
        </p:spPr>
        <p:txBody>
          <a:bodyPr wrap="square" rtlCol="0">
            <a:spAutoFit/>
          </a:bodyPr>
          <a:lstStyle/>
          <a:p>
            <a:r>
              <a:rPr lang="en-US" altLang="zh-CN" sz="1400" dirty="0"/>
              <a:t>X</a:t>
            </a:r>
            <a:r>
              <a:rPr lang="zh-CN" altLang="en-US" sz="1400" dirty="0"/>
              <a:t>轴</a:t>
            </a:r>
          </a:p>
        </p:txBody>
      </p:sp>
      <p:sp>
        <p:nvSpPr>
          <p:cNvPr id="11" name="文本框 10">
            <a:extLst>
              <a:ext uri="{FF2B5EF4-FFF2-40B4-BE49-F238E27FC236}">
                <a16:creationId xmlns:a16="http://schemas.microsoft.com/office/drawing/2014/main" id="{4B4AC386-766B-4324-9C06-BB6D4B228353}"/>
              </a:ext>
            </a:extLst>
          </p:cNvPr>
          <p:cNvSpPr txBox="1"/>
          <p:nvPr/>
        </p:nvSpPr>
        <p:spPr>
          <a:xfrm>
            <a:off x="8550442" y="1073820"/>
            <a:ext cx="369332" cy="496870"/>
          </a:xfrm>
          <a:prstGeom prst="rect">
            <a:avLst/>
          </a:prstGeom>
          <a:noFill/>
        </p:spPr>
        <p:txBody>
          <a:bodyPr vert="eaVert" wrap="square" rtlCol="0">
            <a:spAutoFit/>
          </a:bodyPr>
          <a:lstStyle/>
          <a:p>
            <a:r>
              <a:rPr lang="en-US" altLang="zh-CN" sz="1400" dirty="0"/>
              <a:t>Y</a:t>
            </a:r>
            <a:r>
              <a:rPr lang="zh-CN" altLang="en-US" sz="1400" dirty="0"/>
              <a:t>轴</a:t>
            </a:r>
          </a:p>
        </p:txBody>
      </p:sp>
      <p:cxnSp>
        <p:nvCxnSpPr>
          <p:cNvPr id="14" name="直接连接符 13">
            <a:extLst>
              <a:ext uri="{FF2B5EF4-FFF2-40B4-BE49-F238E27FC236}">
                <a16:creationId xmlns:a16="http://schemas.microsoft.com/office/drawing/2014/main" id="{71C7F995-7714-4135-AC8C-EB352A0694C5}"/>
              </a:ext>
            </a:extLst>
          </p:cNvPr>
          <p:cNvCxnSpPr>
            <a:cxnSpLocks/>
          </p:cNvCxnSpPr>
          <p:nvPr/>
        </p:nvCxnSpPr>
        <p:spPr>
          <a:xfrm>
            <a:off x="8735108" y="3946357"/>
            <a:ext cx="420924" cy="3975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34B61B21-6E98-4946-8525-D56876ACEF15}"/>
              </a:ext>
            </a:extLst>
          </p:cNvPr>
          <p:cNvSpPr/>
          <p:nvPr/>
        </p:nvSpPr>
        <p:spPr>
          <a:xfrm>
            <a:off x="9078659" y="4308309"/>
            <a:ext cx="173626" cy="13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ABDA34F5-BF64-41B6-AF8E-A688B3D1C896}"/>
              </a:ext>
            </a:extLst>
          </p:cNvPr>
          <p:cNvSpPr/>
          <p:nvPr/>
        </p:nvSpPr>
        <p:spPr>
          <a:xfrm>
            <a:off x="8685991" y="3943350"/>
            <a:ext cx="173626" cy="13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50064433-A906-4391-89C2-406E2A7CA873}"/>
              </a:ext>
            </a:extLst>
          </p:cNvPr>
          <p:cNvCxnSpPr>
            <a:cxnSpLocks/>
            <a:stCxn id="19" idx="7"/>
          </p:cNvCxnSpPr>
          <p:nvPr/>
        </p:nvCxnSpPr>
        <p:spPr>
          <a:xfrm flipH="1">
            <a:off x="8825567" y="3962584"/>
            <a:ext cx="8623" cy="47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7FD4735-9DF8-4010-AC92-3B4851220B74}"/>
              </a:ext>
            </a:extLst>
          </p:cNvPr>
          <p:cNvCxnSpPr>
            <a:cxnSpLocks/>
          </p:cNvCxnSpPr>
          <p:nvPr/>
        </p:nvCxnSpPr>
        <p:spPr>
          <a:xfrm>
            <a:off x="8825567" y="4325254"/>
            <a:ext cx="3576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弧形 24">
            <a:extLst>
              <a:ext uri="{FF2B5EF4-FFF2-40B4-BE49-F238E27FC236}">
                <a16:creationId xmlns:a16="http://schemas.microsoft.com/office/drawing/2014/main" id="{375EEBF5-167E-4BA3-9E9E-47FB856BA585}"/>
              </a:ext>
            </a:extLst>
          </p:cNvPr>
          <p:cNvSpPr/>
          <p:nvPr/>
        </p:nvSpPr>
        <p:spPr>
          <a:xfrm>
            <a:off x="8859617" y="4150888"/>
            <a:ext cx="133369" cy="48724"/>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7" name="直接箭头连接符 26">
            <a:extLst>
              <a:ext uri="{FF2B5EF4-FFF2-40B4-BE49-F238E27FC236}">
                <a16:creationId xmlns:a16="http://schemas.microsoft.com/office/drawing/2014/main" id="{7C8A2113-C6C6-4376-8FCD-4BBDEB77D40B}"/>
              </a:ext>
            </a:extLst>
          </p:cNvPr>
          <p:cNvCxnSpPr>
            <a:cxnSpLocks/>
          </p:cNvCxnSpPr>
          <p:nvPr/>
        </p:nvCxnSpPr>
        <p:spPr>
          <a:xfrm>
            <a:off x="8919774" y="4199612"/>
            <a:ext cx="1756246" cy="10846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648206B0-84A4-4111-B1ED-BA55D817F91A}"/>
              </a:ext>
            </a:extLst>
          </p:cNvPr>
          <p:cNvSpPr txBox="1"/>
          <p:nvPr/>
        </p:nvSpPr>
        <p:spPr>
          <a:xfrm>
            <a:off x="10542651" y="5089358"/>
            <a:ext cx="1284910" cy="369332"/>
          </a:xfrm>
          <a:prstGeom prst="rect">
            <a:avLst/>
          </a:prstGeom>
          <a:noFill/>
        </p:spPr>
        <p:txBody>
          <a:bodyPr wrap="square" rtlCol="0">
            <a:spAutoFit/>
          </a:bodyPr>
          <a:lstStyle/>
          <a:p>
            <a:r>
              <a:rPr lang="zh-CN" altLang="en-US" dirty="0"/>
              <a:t>角度</a:t>
            </a:r>
            <a:r>
              <a:rPr lang="el-GR" altLang="zh-CN" dirty="0"/>
              <a:t>θ</a:t>
            </a:r>
            <a:endParaRPr lang="zh-CN" altLang="en-US" dirty="0"/>
          </a:p>
        </p:txBody>
      </p:sp>
    </p:spTree>
    <p:extLst>
      <p:ext uri="{BB962C8B-B14F-4D97-AF65-F5344CB8AC3E}">
        <p14:creationId xmlns:p14="http://schemas.microsoft.com/office/powerpoint/2010/main" val="154810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01B7316-00AA-465B-BDAB-F7FB38CF7957}"/>
              </a:ext>
            </a:extLst>
          </p:cNvPr>
          <p:cNvSpPr txBox="1"/>
          <p:nvPr/>
        </p:nvSpPr>
        <p:spPr>
          <a:xfrm>
            <a:off x="990600" y="457200"/>
            <a:ext cx="11036300" cy="369332"/>
          </a:xfrm>
          <a:prstGeom prst="rect">
            <a:avLst/>
          </a:prstGeom>
          <a:noFill/>
        </p:spPr>
        <p:txBody>
          <a:bodyPr wrap="square" rtlCol="0">
            <a:spAutoFit/>
          </a:bodyPr>
          <a:lstStyle/>
          <a:p>
            <a:r>
              <a:rPr lang="zh-CN" altLang="en-US" dirty="0"/>
              <a:t>基于等度量映射</a:t>
            </a:r>
            <a:r>
              <a:rPr lang="en-US" altLang="zh-CN" dirty="0"/>
              <a:t>(</a:t>
            </a:r>
            <a:r>
              <a:rPr lang="en-US" altLang="zh-CN" dirty="0" err="1"/>
              <a:t>isomap</a:t>
            </a:r>
            <a:r>
              <a:rPr lang="en-US" altLang="zh-CN" dirty="0"/>
              <a:t>)</a:t>
            </a:r>
            <a:r>
              <a:rPr lang="zh-CN" altLang="en-US" dirty="0"/>
              <a:t>的数据降维</a:t>
            </a:r>
          </a:p>
        </p:txBody>
      </p:sp>
      <p:sp>
        <p:nvSpPr>
          <p:cNvPr id="5" name="文本框 4">
            <a:extLst>
              <a:ext uri="{FF2B5EF4-FFF2-40B4-BE49-F238E27FC236}">
                <a16:creationId xmlns:a16="http://schemas.microsoft.com/office/drawing/2014/main" id="{F2BD7350-D071-428B-AEA4-E707E09018EB}"/>
              </a:ext>
            </a:extLst>
          </p:cNvPr>
          <p:cNvSpPr txBox="1"/>
          <p:nvPr/>
        </p:nvSpPr>
        <p:spPr>
          <a:xfrm>
            <a:off x="990600" y="1054100"/>
            <a:ext cx="8724900" cy="4801314"/>
          </a:xfrm>
          <a:prstGeom prst="rect">
            <a:avLst/>
          </a:prstGeom>
          <a:noFill/>
        </p:spPr>
        <p:txBody>
          <a:bodyPr wrap="square" rtlCol="0">
            <a:spAutoFit/>
          </a:bodyPr>
          <a:lstStyle/>
          <a:p>
            <a:r>
              <a:rPr lang="zh-CN" altLang="en-US" dirty="0"/>
              <a:t>由于多特征上的高维，不仅会引起算法运行速度的过慢，并且会引起维数灾难，所以在这里进行降维处理，常用的降维处理手段包括</a:t>
            </a:r>
            <a:r>
              <a:rPr lang="en-US" altLang="zh-CN" dirty="0"/>
              <a:t>PCA/LDA</a:t>
            </a:r>
            <a:r>
              <a:rPr lang="zh-CN" altLang="en-US" dirty="0"/>
              <a:t>等线性方法，这里采用非线性保留全局性质基于距离保持的等度量映射方法</a:t>
            </a:r>
            <a:r>
              <a:rPr lang="en-US" altLang="zh-CN" dirty="0"/>
              <a:t>(</a:t>
            </a:r>
            <a:r>
              <a:rPr lang="en-US" altLang="zh-CN" dirty="0" err="1"/>
              <a:t>Isomap</a:t>
            </a:r>
            <a:r>
              <a:rPr lang="en-US" altLang="zh-CN" dirty="0"/>
              <a:t>)</a:t>
            </a:r>
            <a:r>
              <a:rPr lang="zh-CN" altLang="en-US" dirty="0"/>
              <a:t>，通过计算地线的距离计算，计算最短距离来实现降维，这里计算最短路径可以采用熟知的</a:t>
            </a:r>
            <a:r>
              <a:rPr lang="en-US" altLang="zh-CN" dirty="0"/>
              <a:t>Dijkstra</a:t>
            </a:r>
            <a:r>
              <a:rPr lang="zh-CN" altLang="en-US" dirty="0"/>
              <a:t>算法或者</a:t>
            </a:r>
            <a:r>
              <a:rPr lang="en-US" altLang="zh-CN" dirty="0"/>
              <a:t>Floyd</a:t>
            </a:r>
            <a:r>
              <a:rPr lang="zh-CN" altLang="en-US" dirty="0"/>
              <a:t>算法</a:t>
            </a:r>
            <a:endParaRPr lang="en-US" altLang="zh-CN" dirty="0"/>
          </a:p>
          <a:p>
            <a:endParaRPr lang="en-US" altLang="zh-CN" dirty="0"/>
          </a:p>
          <a:p>
            <a:r>
              <a:rPr lang="zh-CN" altLang="en-US" dirty="0"/>
              <a:t>目前出现的有</a:t>
            </a:r>
            <a:r>
              <a:rPr lang="en-US" altLang="zh-CN" dirty="0"/>
              <a:t>k-means</a:t>
            </a:r>
            <a:r>
              <a:rPr lang="zh-CN" altLang="en-US" dirty="0"/>
              <a:t>和</a:t>
            </a:r>
            <a:r>
              <a:rPr lang="en-US" altLang="zh-CN" dirty="0" err="1"/>
              <a:t>Svm</a:t>
            </a:r>
            <a:r>
              <a:rPr lang="zh-CN" altLang="en-US" dirty="0"/>
              <a:t>结合的方式化解这个难题，首先将样本的高维数据进行聚类，每个簇提取出中心向量代表簇的所有向量，再将这个中心向量作为</a:t>
            </a:r>
            <a:r>
              <a:rPr lang="en-US" altLang="zh-CN" dirty="0"/>
              <a:t>SVM</a:t>
            </a:r>
            <a:r>
              <a:rPr lang="zh-CN" altLang="en-US" dirty="0"/>
              <a:t>的输入，这种方式会导致整个模型的准确率下降。或者通过线性降维的方式进行，但是在实际过程中，线性降维通常可以很好还原数据集的低维特征，但是很多真实的数据，都有着非线性结构，线性不能完整刻画这些数据的内在结构特征。</a:t>
            </a:r>
            <a:endParaRPr lang="en-US" altLang="zh-CN" dirty="0"/>
          </a:p>
          <a:p>
            <a:endParaRPr lang="en-US" altLang="zh-CN" dirty="0"/>
          </a:p>
          <a:p>
            <a:r>
              <a:rPr lang="zh-CN" altLang="en-US" dirty="0"/>
              <a:t>本文提出一种基于等度量映射的数据降维方式，</a:t>
            </a:r>
            <a:r>
              <a:rPr lang="en-US" altLang="zh-CN" dirty="0" err="1"/>
              <a:t>ISOmap</a:t>
            </a:r>
            <a:r>
              <a:rPr lang="zh-CN" altLang="en-US" dirty="0"/>
              <a:t>是建立在</a:t>
            </a:r>
            <a:r>
              <a:rPr lang="en-US" altLang="zh-CN" dirty="0"/>
              <a:t>MDS</a:t>
            </a:r>
            <a:r>
              <a:rPr lang="zh-CN" altLang="en-US" dirty="0"/>
              <a:t>算法基础上一种具有代表性的全局特征保持的流形学习算法，用测地距离矩阵代表欧式距离矩阵作为全局相似性度量，在不相邻的样本点之间的测地距离，通过最短路径近似测地距离，再将测地距离作为</a:t>
            </a:r>
            <a:r>
              <a:rPr lang="en-US" altLang="zh-CN" dirty="0"/>
              <a:t>MDS</a:t>
            </a:r>
            <a:r>
              <a:rPr lang="zh-CN" altLang="en-US" dirty="0"/>
              <a:t>算法的输入，求得低维。</a:t>
            </a:r>
          </a:p>
          <a:p>
            <a:endParaRPr lang="zh-CN" altLang="en-US" dirty="0"/>
          </a:p>
        </p:txBody>
      </p:sp>
    </p:spTree>
    <p:extLst>
      <p:ext uri="{BB962C8B-B14F-4D97-AF65-F5344CB8AC3E}">
        <p14:creationId xmlns:p14="http://schemas.microsoft.com/office/powerpoint/2010/main" val="1734981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64F350D-21BB-4BC2-819B-AE5817F45CF3}"/>
              </a:ext>
            </a:extLst>
          </p:cNvPr>
          <p:cNvSpPr txBox="1"/>
          <p:nvPr/>
        </p:nvSpPr>
        <p:spPr>
          <a:xfrm>
            <a:off x="317500" y="316468"/>
            <a:ext cx="9588500" cy="369332"/>
          </a:xfrm>
          <a:prstGeom prst="rect">
            <a:avLst/>
          </a:prstGeom>
          <a:noFill/>
        </p:spPr>
        <p:txBody>
          <a:bodyPr wrap="square" rtlCol="0">
            <a:spAutoFit/>
          </a:bodyPr>
          <a:lstStyle/>
          <a:p>
            <a:r>
              <a:rPr lang="zh-CN" altLang="en-US" dirty="0"/>
              <a:t>算法流程</a:t>
            </a:r>
          </a:p>
        </p:txBody>
      </p:sp>
      <p:sp>
        <p:nvSpPr>
          <p:cNvPr id="5" name="矩形 4">
            <a:extLst>
              <a:ext uri="{FF2B5EF4-FFF2-40B4-BE49-F238E27FC236}">
                <a16:creationId xmlns:a16="http://schemas.microsoft.com/office/drawing/2014/main" id="{A5BE505A-CEDF-427D-9D91-7C09152C7A8E}"/>
              </a:ext>
            </a:extLst>
          </p:cNvPr>
          <p:cNvSpPr/>
          <p:nvPr/>
        </p:nvSpPr>
        <p:spPr>
          <a:xfrm>
            <a:off x="623140" y="877710"/>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6CAF426-22D5-473C-8425-662A1A68F4A5}"/>
              </a:ext>
            </a:extLst>
          </p:cNvPr>
          <p:cNvSpPr txBox="1"/>
          <p:nvPr/>
        </p:nvSpPr>
        <p:spPr>
          <a:xfrm>
            <a:off x="725919" y="1080909"/>
            <a:ext cx="461665" cy="1264355"/>
          </a:xfrm>
          <a:prstGeom prst="rect">
            <a:avLst/>
          </a:prstGeom>
          <a:noFill/>
        </p:spPr>
        <p:txBody>
          <a:bodyPr vert="eaVert" wrap="square" rtlCol="0">
            <a:spAutoFit/>
          </a:bodyPr>
          <a:lstStyle/>
          <a:p>
            <a:r>
              <a:rPr lang="zh-CN" altLang="en-US" dirty="0"/>
              <a:t>构建领域图</a:t>
            </a:r>
          </a:p>
        </p:txBody>
      </p:sp>
      <p:sp>
        <p:nvSpPr>
          <p:cNvPr id="7" name="矩形 6">
            <a:extLst>
              <a:ext uri="{FF2B5EF4-FFF2-40B4-BE49-F238E27FC236}">
                <a16:creationId xmlns:a16="http://schemas.microsoft.com/office/drawing/2014/main" id="{EF63FBA9-D852-458B-827B-B5FCBB0225DC}"/>
              </a:ext>
            </a:extLst>
          </p:cNvPr>
          <p:cNvSpPr/>
          <p:nvPr/>
        </p:nvSpPr>
        <p:spPr>
          <a:xfrm>
            <a:off x="1768235" y="900289"/>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C499A867-0EA3-48E5-9B36-CF70DCD1453C}"/>
              </a:ext>
            </a:extLst>
          </p:cNvPr>
          <p:cNvSpPr txBox="1"/>
          <p:nvPr/>
        </p:nvSpPr>
        <p:spPr>
          <a:xfrm>
            <a:off x="1880686" y="940933"/>
            <a:ext cx="461665" cy="1490133"/>
          </a:xfrm>
          <a:prstGeom prst="rect">
            <a:avLst/>
          </a:prstGeom>
          <a:noFill/>
        </p:spPr>
        <p:txBody>
          <a:bodyPr vert="eaVert" wrap="square" rtlCol="0">
            <a:spAutoFit/>
          </a:bodyPr>
          <a:lstStyle/>
          <a:p>
            <a:r>
              <a:rPr lang="zh-CN" altLang="en-US" dirty="0"/>
              <a:t>计算最短路径</a:t>
            </a:r>
          </a:p>
        </p:txBody>
      </p:sp>
      <p:sp>
        <p:nvSpPr>
          <p:cNvPr id="9" name="矩形 8">
            <a:extLst>
              <a:ext uri="{FF2B5EF4-FFF2-40B4-BE49-F238E27FC236}">
                <a16:creationId xmlns:a16="http://schemas.microsoft.com/office/drawing/2014/main" id="{95C1799E-FF1F-44CC-922D-CF9CA5507FB7}"/>
              </a:ext>
            </a:extLst>
          </p:cNvPr>
          <p:cNvSpPr/>
          <p:nvPr/>
        </p:nvSpPr>
        <p:spPr>
          <a:xfrm>
            <a:off x="2905931" y="888996"/>
            <a:ext cx="654756" cy="1490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D2FCC1C-BC42-4C9A-878C-0B5D4FB84347}"/>
              </a:ext>
            </a:extLst>
          </p:cNvPr>
          <p:cNvSpPr txBox="1"/>
          <p:nvPr/>
        </p:nvSpPr>
        <p:spPr>
          <a:xfrm>
            <a:off x="3015392" y="968019"/>
            <a:ext cx="461665" cy="1490133"/>
          </a:xfrm>
          <a:prstGeom prst="rect">
            <a:avLst/>
          </a:prstGeom>
          <a:noFill/>
        </p:spPr>
        <p:txBody>
          <a:bodyPr vert="eaVert" wrap="square" rtlCol="0">
            <a:spAutoFit/>
          </a:bodyPr>
          <a:lstStyle/>
          <a:p>
            <a:r>
              <a:rPr lang="zh-CN" altLang="en-US" dirty="0"/>
              <a:t>计算</a:t>
            </a:r>
            <a:r>
              <a:rPr lang="en-US" altLang="zh-CN" dirty="0"/>
              <a:t>D</a:t>
            </a:r>
            <a:r>
              <a:rPr lang="zh-CN" altLang="en-US" dirty="0"/>
              <a:t>维坐标</a:t>
            </a:r>
          </a:p>
        </p:txBody>
      </p:sp>
      <p:sp>
        <p:nvSpPr>
          <p:cNvPr id="14" name="箭头: 右 13">
            <a:extLst>
              <a:ext uri="{FF2B5EF4-FFF2-40B4-BE49-F238E27FC236}">
                <a16:creationId xmlns:a16="http://schemas.microsoft.com/office/drawing/2014/main" id="{E9FABFF9-43AF-416E-A086-1FAFFC09A192}"/>
              </a:ext>
            </a:extLst>
          </p:cNvPr>
          <p:cNvSpPr/>
          <p:nvPr/>
        </p:nvSpPr>
        <p:spPr>
          <a:xfrm>
            <a:off x="1300474" y="1509889"/>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a:extLst>
              <a:ext uri="{FF2B5EF4-FFF2-40B4-BE49-F238E27FC236}">
                <a16:creationId xmlns:a16="http://schemas.microsoft.com/office/drawing/2014/main" id="{10E9E7E0-DAAF-4AF4-B269-859EA2B9A4E1}"/>
              </a:ext>
            </a:extLst>
          </p:cNvPr>
          <p:cNvSpPr/>
          <p:nvPr/>
        </p:nvSpPr>
        <p:spPr>
          <a:xfrm>
            <a:off x="2445569" y="1493249"/>
            <a:ext cx="452489" cy="158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AE6D73EC-FE4E-4D7F-A4C4-38A895B4FFF6}"/>
                  </a:ext>
                </a:extLst>
              </p:cNvPr>
              <p:cNvSpPr txBox="1"/>
              <p:nvPr/>
            </p:nvSpPr>
            <p:spPr>
              <a:xfrm>
                <a:off x="3784600" y="174070"/>
                <a:ext cx="8407400" cy="6873933"/>
              </a:xfrm>
              <a:prstGeom prst="rect">
                <a:avLst/>
              </a:prstGeom>
              <a:noFill/>
            </p:spPr>
            <p:txBody>
              <a:bodyPr wrap="square" rtlCol="0">
                <a:spAutoFit/>
              </a:bodyPr>
              <a:lstStyle/>
              <a:p>
                <a:r>
                  <a:rPr lang="en-US" altLang="zh-CN" dirty="0"/>
                  <a:t>1</a:t>
                </a:r>
                <a:r>
                  <a:rPr lang="zh-CN" altLang="en-US" dirty="0"/>
                  <a:t>：构建领域图</a:t>
                </a:r>
                <a:endParaRPr lang="en-US" altLang="zh-CN" dirty="0"/>
              </a:p>
              <a:p>
                <a:r>
                  <a:rPr lang="zh-CN" altLang="en-US" dirty="0"/>
                  <a:t>构建领域图的方法有很多种，首先求出样本点彼此的欧式距离，得到欧式距离矩阵</a:t>
                </a:r>
                <a:r>
                  <a:rPr lang="en-US" altLang="zh-CN" dirty="0"/>
                  <a:t>DE</a:t>
                </a:r>
                <a:r>
                  <a:rPr lang="zh-CN" altLang="en-US" dirty="0"/>
                  <a:t>，其中元素</a:t>
                </a:r>
                <a14:m>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𝐸</m:t>
                        </m:r>
                      </m:sub>
                    </m:sSub>
                    <m:d>
                      <m:dPr>
                        <m:ctrlPr>
                          <a:rPr lang="zh-CN" altLang="en-US" i="1">
                            <a:latin typeface="Cambria Math" panose="02040503050406030204" pitchFamily="18" charset="0"/>
                          </a:rPr>
                        </m:ctrlPr>
                      </m:dPr>
                      <m:e>
                        <m:r>
                          <a:rPr lang="zh-CN" altLang="en-US" i="0">
                            <a:latin typeface="Cambria Math" panose="02040503050406030204" pitchFamily="18" charset="0"/>
                          </a:rPr>
                          <m:t>ⅈ,</m:t>
                        </m:r>
                        <m:r>
                          <a:rPr lang="zh-CN" altLang="en-US" i="1">
                            <a:latin typeface="Cambria Math" panose="02040503050406030204" pitchFamily="18" charset="0"/>
                          </a:rPr>
                          <m:t>𝑗</m:t>
                        </m:r>
                      </m:e>
                    </m:d>
                  </m:oMath>
                </a14:m>
                <a:r>
                  <a:rPr lang="zh-CN" altLang="en-US" dirty="0"/>
                  <a:t>表示样本点</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𝑖</m:t>
                        </m:r>
                      </m:sub>
                    </m:sSub>
                  </m:oMath>
                </a14:m>
                <a:r>
                  <a:rPr lang="zh-CN" altLang="en-US" dirty="0"/>
                  <a:t>和样本点</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𝑗</m:t>
                        </m:r>
                      </m:sub>
                    </m:sSub>
                  </m:oMath>
                </a14:m>
                <a:r>
                  <a:rPr lang="zh-CN" altLang="en-US" dirty="0"/>
                  <a:t>之间的欧式距离，这里采用</a:t>
                </a:r>
                <a:r>
                  <a:rPr lang="en-US" altLang="zh-CN" dirty="0"/>
                  <a:t>k</a:t>
                </a:r>
                <a:r>
                  <a:rPr lang="zh-CN" altLang="en-US" dirty="0"/>
                  <a:t>近邻法（</a:t>
                </a:r>
                <a:r>
                  <a:rPr lang="en-US" altLang="zh-CN" dirty="0"/>
                  <a:t>KNN</a:t>
                </a:r>
                <a:r>
                  <a:rPr lang="zh-CN" altLang="en-US" dirty="0"/>
                  <a:t>）实现领域图的构建，将每个样本点与其相距最近的</a:t>
                </a:r>
                <a:r>
                  <a:rPr lang="en-US" altLang="zh-CN" dirty="0"/>
                  <a:t>K</a:t>
                </a:r>
                <a:r>
                  <a:rPr lang="zh-CN" altLang="en-US" dirty="0"/>
                  <a:t>个点连接</a:t>
                </a:r>
                <a:endParaRPr lang="en-US" altLang="zh-CN" dirty="0"/>
              </a:p>
              <a:p>
                <a:endParaRPr lang="en-US" altLang="zh-CN" dirty="0"/>
              </a:p>
              <a:p>
                <a:r>
                  <a:rPr lang="en-US" altLang="zh-CN" dirty="0"/>
                  <a:t>2</a:t>
                </a:r>
                <a:r>
                  <a:rPr lang="zh-CN" altLang="en-US" dirty="0"/>
                  <a:t>：计算最短路径</a:t>
                </a:r>
                <a:endParaRPr lang="en-US" altLang="zh-CN" dirty="0"/>
              </a:p>
              <a:p>
                <a:r>
                  <a:rPr lang="zh-CN" altLang="en-US" dirty="0"/>
                  <a:t>如果样本点</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𝑖</m:t>
                        </m:r>
                      </m:sub>
                    </m:sSub>
                  </m:oMath>
                </a14:m>
                <a:r>
                  <a:rPr lang="en-US" altLang="zh-CN" dirty="0"/>
                  <a:t> </a:t>
                </a:r>
                <a:r>
                  <a:rPr lang="zh-CN" altLang="en-US" dirty="0"/>
                  <a:t>和</a:t>
                </a:r>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𝑗</m:t>
                        </m:r>
                      </m:sub>
                    </m:sSub>
                  </m:oMath>
                </a14:m>
                <a:r>
                  <a:rPr lang="zh-CN" altLang="en-US" dirty="0"/>
                  <a:t>在图</a:t>
                </a:r>
                <a:r>
                  <a:rPr lang="en-US" altLang="zh-CN" dirty="0"/>
                  <a:t>G</a:t>
                </a:r>
                <a:r>
                  <a:rPr lang="zh-CN" altLang="en-US" dirty="0"/>
                  <a:t>相连，则他们最短路径的初始值为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𝐺</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e>
                    </m:d>
                    <m:r>
                      <a:rPr lang="zh-CN" altLang="en-US" i="0"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𝐸</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e>
                    </m:d>
                  </m:oMath>
                </a14:m>
                <a:r>
                  <a:rPr lang="en-US" altLang="zh-CN" dirty="0"/>
                  <a:t> </a:t>
                </a:r>
                <a:r>
                  <a:rPr lang="zh-CN" altLang="en-US" dirty="0"/>
                  <a:t>否则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𝐺</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e>
                    </m:d>
                    <m:r>
                      <a:rPr lang="zh-CN" altLang="en-US" i="0" dirty="0" smtClean="0">
                        <a:latin typeface="Cambria Math" panose="02040503050406030204" pitchFamily="18" charset="0"/>
                      </a:rPr>
                      <m:t>=∞</m:t>
                    </m:r>
                  </m:oMath>
                </a14:m>
                <a:r>
                  <a:rPr lang="zh-CN" altLang="en-US" dirty="0"/>
                  <a:t>   令</a:t>
                </a:r>
                <a:r>
                  <a:rPr lang="en-US" altLang="zh-CN" dirty="0"/>
                  <a:t>q=1,2,3,……..N,N</a:t>
                </a:r>
                <a:r>
                  <a:rPr lang="zh-CN" altLang="en-US" dirty="0"/>
                  <a:t>是样本点的总数量，计算下式</a:t>
                </a:r>
                <a:endParaRPr lang="en-US" altLang="zh-CN" dirty="0"/>
              </a:p>
              <a:p>
                <a:endParaRPr lang="en-US" altLang="zh-CN" dirty="0"/>
              </a:p>
              <a:p>
                <a14:m>
                  <m:oMath xmlns:m="http://schemas.openxmlformats.org/officeDocument/2006/math">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              </m:t>
                        </m:r>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𝐺</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e>
                    </m:d>
                    <m:r>
                      <a:rPr lang="zh-CN" altLang="en-US" i="0" dirty="0" smtClean="0">
                        <a:latin typeface="Cambria Math" panose="02040503050406030204" pitchFamily="18" charset="0"/>
                      </a:rPr>
                      <m:t>=</m:t>
                    </m:r>
                  </m:oMath>
                </a14:m>
                <a:r>
                  <a:rPr lang="en-US" altLang="zh-CN" dirty="0"/>
                  <a:t>min{</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𝐺</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e>
                    </m:d>
                    <m:r>
                      <a:rPr lang="en-US" altLang="zh-CN" b="0" i="0"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𝐺</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en-US" altLang="zh-CN" b="0" i="1" dirty="0" smtClean="0">
                            <a:latin typeface="Cambria Math" panose="02040503050406030204" pitchFamily="18" charset="0"/>
                          </a:rPr>
                          <m:t>𝑞</m:t>
                        </m:r>
                      </m:e>
                    </m:d>
                    <m:r>
                      <a:rPr lang="en-US" altLang="zh-CN" b="0" i="0"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a:rPr lang="zh-CN" altLang="en-US" i="1" dirty="0" smtClean="0">
                            <a:latin typeface="Cambria Math" panose="02040503050406030204" pitchFamily="18" charset="0"/>
                          </a:rPr>
                          <m:t>𝐺</m:t>
                        </m:r>
                      </m:sub>
                    </m:sSub>
                    <m:d>
                      <m:dPr>
                        <m:ctrlPr>
                          <a:rPr lang="zh-CN" altLang="en-US" i="1" dirty="0" smtClean="0">
                            <a:latin typeface="Cambria Math" panose="02040503050406030204" pitchFamily="18" charset="0"/>
                          </a:rPr>
                        </m:ctrlPr>
                      </m:dPr>
                      <m:e>
                        <m:r>
                          <m:rPr>
                            <m:sty m:val="p"/>
                          </m:rPr>
                          <a:rPr lang="en-US" altLang="zh-CN" b="0" i="0" dirty="0" smtClean="0">
                            <a:latin typeface="Cambria Math" panose="02040503050406030204" pitchFamily="18" charset="0"/>
                          </a:rPr>
                          <m:t>q</m:t>
                        </m:r>
                        <m:r>
                          <a:rPr lang="zh-CN" altLang="en-US" i="0" dirty="0" smtClean="0">
                            <a:latin typeface="Cambria Math" panose="02040503050406030204" pitchFamily="18" charset="0"/>
                          </a:rPr>
                          <m:t>,</m:t>
                        </m:r>
                        <m:r>
                          <a:rPr lang="zh-CN" altLang="en-US" i="1" dirty="0" smtClean="0">
                            <a:latin typeface="Cambria Math" panose="02040503050406030204" pitchFamily="18" charset="0"/>
                          </a:rPr>
                          <m:t>𝑗</m:t>
                        </m:r>
                      </m:e>
                    </m:d>
                  </m:oMath>
                </a14:m>
                <a:r>
                  <a:rPr lang="en-US" altLang="zh-CN" dirty="0"/>
                  <a:t>}</a:t>
                </a:r>
              </a:p>
              <a:p>
                <a:endParaRPr lang="en-US" altLang="zh-CN" dirty="0"/>
              </a:p>
              <a:p>
                <a:r>
                  <a:rPr lang="zh-CN" altLang="en-US" dirty="0"/>
                  <a:t>由此可得所有数据点对之间的测地距离构成的测地距离矩阵</a:t>
                </a:r>
                <a:r>
                  <a:rPr lang="en-US" altLang="zh-CN" dirty="0"/>
                  <a:t>D</a:t>
                </a:r>
              </a:p>
              <a:p>
                <a:endParaRPr lang="en-US" altLang="zh-CN" dirty="0"/>
              </a:p>
              <a:p>
                <a:r>
                  <a:rPr lang="en-US" altLang="zh-CN" dirty="0"/>
                  <a:t>3</a:t>
                </a:r>
                <a:r>
                  <a:rPr lang="zh-CN" altLang="en-US" dirty="0"/>
                  <a:t>：计算</a:t>
                </a:r>
                <a:r>
                  <a:rPr lang="en-US" altLang="zh-CN" dirty="0"/>
                  <a:t>d</a:t>
                </a:r>
                <a:r>
                  <a:rPr lang="zh-CN" altLang="en-US" dirty="0"/>
                  <a:t>维坐标</a:t>
                </a:r>
                <a:endParaRPr lang="en-US" altLang="zh-CN" dirty="0"/>
              </a:p>
              <a:p>
                <a:r>
                  <a:rPr lang="zh-CN" altLang="en-US" dirty="0"/>
                  <a:t>将</a:t>
                </a:r>
                <a:r>
                  <a:rPr lang="en-US" altLang="zh-CN" dirty="0"/>
                  <a:t>MDS</a:t>
                </a:r>
                <a:r>
                  <a:rPr lang="zh-CN" altLang="en-US" dirty="0"/>
                  <a:t>算法应用到测地距离矩阵</a:t>
                </a:r>
                <a14:m>
                  <m:oMath xmlns:m="http://schemas.openxmlformats.org/officeDocument/2006/math">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𝐷</m:t>
                        </m:r>
                      </m:e>
                      <m:sub>
                        <m:r>
                          <a:rPr lang="zh-CN" altLang="en-US" i="1" dirty="0">
                            <a:latin typeface="Cambria Math" panose="02040503050406030204" pitchFamily="18" charset="0"/>
                          </a:rPr>
                          <m:t>𝐺</m:t>
                        </m:r>
                      </m:sub>
                    </m:sSub>
                    <m:r>
                      <a:rPr lang="zh-CN" altLang="en-US" i="1" dirty="0">
                        <a:latin typeface="Cambria Math" panose="02040503050406030204" pitchFamily="18" charset="0"/>
                      </a:rPr>
                      <m:t> </m:t>
                    </m:r>
                  </m:oMath>
                </a14:m>
                <a:r>
                  <a:rPr lang="zh-CN" altLang="en-US" dirty="0"/>
                  <a:t>，最小化下面的目标函数获得样本的低维嵌入坐标</a:t>
                </a:r>
                <a:r>
                  <a:rPr lang="en-US" altLang="zh-CN" dirty="0"/>
                  <a:t>Y</a:t>
                </a:r>
              </a:p>
              <a:p>
                <a:r>
                  <a:rPr lang="en-US" altLang="zh-CN" dirty="0"/>
                  <a:t>			E = </a:t>
                </a:r>
                <a14:m>
                  <m:oMath xmlns:m="http://schemas.openxmlformats.org/officeDocument/2006/math">
                    <m:sSub>
                      <m:sSubPr>
                        <m:ctrlPr>
                          <a:rPr lang="zh-CN" altLang="en-US" i="1" dirty="0" smtClean="0">
                            <a:latin typeface="Cambria Math" panose="02040503050406030204" pitchFamily="18" charset="0"/>
                          </a:rPr>
                        </m:ctrlPr>
                      </m:sSubPr>
                      <m:e>
                        <m:d>
                          <m:dPr>
                            <m:begChr m:val="‖"/>
                            <m:endChr m:val="‖"/>
                            <m:ctrlPr>
                              <a:rPr lang="zh-CN" altLang="en-US" i="1" dirty="0">
                                <a:latin typeface="Cambria Math" panose="02040503050406030204" pitchFamily="18" charset="0"/>
                              </a:rPr>
                            </m:ctrlPr>
                          </m:dPr>
                          <m:e>
                            <m:r>
                              <m:rPr>
                                <m:nor/>
                              </m:rPr>
                              <a:rPr lang="az-Cyrl-AZ" altLang="zh-CN" dirty="0" smtClean="0"/>
                              <m:t>т</m:t>
                            </m:r>
                            <m:r>
                              <m:rPr>
                                <m:nor/>
                              </m:rPr>
                              <a:rPr lang="en-US" altLang="zh-CN" dirty="0" smtClean="0"/>
                              <m:t>(</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zh-CN" altLang="en-US" i="1" dirty="0" smtClean="0">
                                    <a:latin typeface="Cambria Math" panose="02040503050406030204" pitchFamily="18" charset="0"/>
                                  </a:rPr>
                                  <m:t>𝐺</m:t>
                                </m:r>
                              </m:sub>
                            </m:sSub>
                            <m:r>
                              <m:rPr>
                                <m:nor/>
                              </m:rPr>
                              <a:rPr lang="en-US" altLang="zh-CN" dirty="0"/>
                              <m:t>)</m:t>
                            </m:r>
                            <m:r>
                              <m:rPr>
                                <m:nor/>
                              </m:rPr>
                              <a:rPr lang="az-Cyrl-AZ" altLang="zh-CN" dirty="0"/>
                              <m:t> </m:t>
                            </m:r>
                            <m:r>
                              <m:rPr>
                                <m:nor/>
                              </m:rPr>
                              <a:rPr lang="en-US" altLang="zh-CN" dirty="0"/>
                              <m:t> − </m:t>
                            </m:r>
                            <m:r>
                              <m:rPr>
                                <m:nor/>
                              </m:rPr>
                              <a:rPr lang="az-Cyrl-AZ" altLang="zh-CN" dirty="0"/>
                              <m:t>т</m:t>
                            </m:r>
                            <m:r>
                              <m:rPr>
                                <m:nor/>
                              </m:rPr>
                              <a:rPr lang="en-US" altLang="zh-CN" dirty="0"/>
                              <m:t>(</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zh-CN" altLang="en-US" i="1" dirty="0" smtClean="0">
                                    <a:latin typeface="Cambria Math" panose="02040503050406030204" pitchFamily="18" charset="0"/>
                                  </a:rPr>
                                  <m:t>𝐺</m:t>
                                </m:r>
                              </m:sub>
                            </m:sSub>
                            <m:r>
                              <m:rPr>
                                <m:nor/>
                              </m:rPr>
                              <a:rPr lang="en-US" altLang="zh-CN" dirty="0"/>
                              <m:t>)</m:t>
                            </m:r>
                          </m:e>
                        </m:d>
                      </m:e>
                      <m:sub>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𝐿</m:t>
                            </m:r>
                          </m:e>
                          <m:sup>
                            <m:r>
                              <a:rPr lang="zh-CN" altLang="en-US" i="0" dirty="0">
                                <a:latin typeface="Cambria Math" panose="02040503050406030204" pitchFamily="18" charset="0"/>
                              </a:rPr>
                              <m:t>2</m:t>
                            </m:r>
                          </m:sup>
                        </m:sSup>
                      </m:sub>
                    </m:sSub>
                  </m:oMath>
                </a14:m>
                <a:endParaRPr lang="en-US" altLang="zh-CN" dirty="0"/>
              </a:p>
              <a:p>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m:rPr>
                            <m:sty m:val="p"/>
                          </m:rPr>
                          <a:rPr lang="en-US" altLang="zh-CN" i="1" dirty="0">
                            <a:latin typeface="Cambria Math" panose="02040503050406030204" pitchFamily="18" charset="0"/>
                          </a:rPr>
                          <m:t>Y</m:t>
                        </m:r>
                      </m:sub>
                    </m:sSub>
                  </m:oMath>
                </a14:m>
                <a:r>
                  <a:rPr lang="zh-CN" altLang="en-US" dirty="0"/>
                  <a:t>表示降维后的样本点之间的欧式距离矩阵，其中</a:t>
                </a:r>
                <a:r>
                  <a:rPr lang="en-US" altLang="zh-CN"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𝑑</m:t>
                        </m:r>
                      </m:e>
                      <m:sub>
                        <m:r>
                          <m:rPr>
                            <m:sty m:val="p"/>
                          </m:rPr>
                          <a:rPr lang="en-US" altLang="zh-CN" i="1" dirty="0">
                            <a:latin typeface="Cambria Math" panose="02040503050406030204" pitchFamily="18" charset="0"/>
                          </a:rPr>
                          <m:t>Y</m:t>
                        </m:r>
                      </m:sub>
                    </m:sSub>
                    <m:d>
                      <m:dPr>
                        <m:ctrlPr>
                          <a:rPr lang="zh-CN" altLang="en-US" i="1" dirty="0" smtClean="0">
                            <a:latin typeface="Cambria Math" panose="02040503050406030204" pitchFamily="18" charset="0"/>
                          </a:rPr>
                        </m:ctrlPr>
                      </m:dPr>
                      <m:e>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e>
                    </m:d>
                    <m:r>
                      <a:rPr lang="en-US" altLang="zh-CN" b="0" i="1" dirty="0" smtClean="0">
                        <a:latin typeface="Cambria Math" panose="02040503050406030204" pitchFamily="18" charset="0"/>
                      </a:rPr>
                      <m:t> </m:t>
                    </m:r>
                    <m:r>
                      <a:rPr lang="en-US" altLang="zh-CN" i="1" dirty="0">
                        <a:latin typeface="Cambria Math" panose="02040503050406030204" pitchFamily="18" charset="0"/>
                      </a:rPr>
                      <m:t>=</m:t>
                    </m:r>
                  </m:oMath>
                </a14:m>
                <a:r>
                  <a:rPr lang="en-US" altLang="zh-CN" dirty="0"/>
                  <a:t> ||</a:t>
                </a:r>
                <a:r>
                  <a:rPr lang="zh-CN" altLang="en-US" dirty="0"/>
                  <a:t> </a:t>
                </a:r>
                <a14:m>
                  <m:oMath xmlns:m="http://schemas.openxmlformats.org/officeDocument/2006/math">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m:rPr>
                            <m:sty m:val="p"/>
                          </m:rPr>
                          <a:rPr lang="en-US" altLang="zh-CN" i="1" dirty="0">
                            <a:latin typeface="Cambria Math" panose="02040503050406030204" pitchFamily="18" charset="0"/>
                          </a:rPr>
                          <m:t>i</m:t>
                        </m:r>
                      </m:sub>
                    </m:sSub>
                    <m:r>
                      <a:rPr lang="en-US" altLang="zh-CN" b="0" i="1" dirty="0" smtClean="0">
                        <a:latin typeface="Cambria Math" panose="02040503050406030204" pitchFamily="18" charset="0"/>
                      </a:rPr>
                      <m:t> −</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m:rPr>
                            <m:sty m:val="p"/>
                          </m:rPr>
                          <a:rPr lang="en-US" altLang="zh-CN" i="1" dirty="0">
                            <a:latin typeface="Cambria Math" panose="02040503050406030204" pitchFamily="18" charset="0"/>
                          </a:rPr>
                          <m:t>i</m:t>
                        </m:r>
                      </m:sub>
                    </m:sSub>
                  </m:oMath>
                </a14:m>
                <a:r>
                  <a:rPr lang="en-US" altLang="zh-CN" dirty="0"/>
                  <a:t>||},</a:t>
                </a:r>
                <a:r>
                  <a:rPr lang="zh-CN" altLang="en-US" dirty="0"/>
                  <a:t> </a:t>
                </a:r>
                <a14:m>
                  <m:oMath xmlns:m="http://schemas.openxmlformats.org/officeDocument/2006/math">
                    <m:sSub>
                      <m:sSubPr>
                        <m:ctrlPr>
                          <a:rPr lang="zh-CN" altLang="en-US" i="1" dirty="0" smtClean="0">
                            <a:latin typeface="Cambria Math" panose="02040503050406030204" pitchFamily="18" charset="0"/>
                          </a:rPr>
                        </m:ctrlPr>
                      </m:sSubPr>
                      <m:e>
                        <m:d>
                          <m:dPr>
                            <m:begChr m:val="‖"/>
                            <m:endChr m:val="‖"/>
                            <m:ctrlPr>
                              <a:rPr lang="zh-CN" altLang="en-US" i="1" dirty="0">
                                <a:latin typeface="Cambria Math" panose="02040503050406030204" pitchFamily="18" charset="0"/>
                              </a:rPr>
                            </m:ctrlPr>
                          </m:dPr>
                          <m:e>
                            <m:r>
                              <m:rPr>
                                <m:nor/>
                              </m:rPr>
                              <a:rPr lang="en-US" altLang="zh-CN" b="0" i="0" dirty="0" smtClean="0">
                                <a:latin typeface="Cambria Math" panose="02040503050406030204" pitchFamily="18" charset="0"/>
                              </a:rPr>
                              <m:t>A</m:t>
                            </m:r>
                          </m:e>
                        </m:d>
                      </m:e>
                      <m:sub>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𝐿</m:t>
                            </m:r>
                          </m:e>
                          <m:sup>
                            <m:r>
                              <a:rPr lang="zh-CN" altLang="en-US" i="0" dirty="0">
                                <a:latin typeface="Cambria Math" panose="02040503050406030204" pitchFamily="18" charset="0"/>
                              </a:rPr>
                              <m:t>2</m:t>
                            </m:r>
                          </m:sup>
                        </m:sSup>
                      </m:sub>
                    </m:sSub>
                    <m:r>
                      <a:rPr lang="en-US" altLang="zh-CN" b="0" i="1" dirty="0" smtClean="0">
                        <a:latin typeface="Cambria Math" panose="02040503050406030204" pitchFamily="18" charset="0"/>
                      </a:rPr>
                      <m:t>=</m:t>
                    </m:r>
                    <m:rad>
                      <m:radPr>
                        <m:degHide m:val="on"/>
                        <m:ctrlPr>
                          <a:rPr lang="zh-CN" altLang="en-US" i="1" dirty="0" smtClean="0">
                            <a:latin typeface="Cambria Math" panose="02040503050406030204" pitchFamily="18" charset="0"/>
                          </a:rPr>
                        </m:ctrlPr>
                      </m:radPr>
                      <m:deg/>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𝛴</m:t>
                            </m:r>
                          </m:e>
                          <m:sub>
                            <m:r>
                              <a:rPr lang="zh-CN" altLang="en-US" i="1" dirty="0" smtClean="0">
                                <a:latin typeface="Cambria Math" panose="02040503050406030204" pitchFamily="18" charset="0"/>
                              </a:rPr>
                              <m:t>𝑖𝑗</m:t>
                            </m:r>
                          </m:sub>
                        </m:sSub>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𝐴</m:t>
                            </m:r>
                          </m:e>
                          <m:sub>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sub>
                          <m:sup>
                            <m:r>
                              <a:rPr lang="zh-CN" altLang="en-US" i="0" dirty="0" smtClean="0">
                                <a:latin typeface="Cambria Math" panose="02040503050406030204" pitchFamily="18" charset="0"/>
                              </a:rPr>
                              <m:t>2</m:t>
                            </m:r>
                          </m:sup>
                        </m:sSubSup>
                      </m:e>
                    </m:rad>
                  </m:oMath>
                </a14:m>
                <a:r>
                  <a:rPr lang="zh-CN" altLang="en-US" dirty="0"/>
                  <a:t>是</a:t>
                </a:r>
                <a:r>
                  <a:rPr lang="en-US" altLang="zh-CN" dirty="0"/>
                  <a:t>L2</a:t>
                </a:r>
                <a:r>
                  <a:rPr lang="zh-CN" altLang="en-US" dirty="0"/>
                  <a:t>矩阵范数，矩阵操作算子</a:t>
                </a:r>
                <a14:m>
                  <m:oMath xmlns:m="http://schemas.openxmlformats.org/officeDocument/2006/math">
                    <m:r>
                      <m:rPr>
                        <m:nor/>
                      </m:rPr>
                      <a:rPr lang="az-Cyrl-AZ" altLang="zh-CN" dirty="0" smtClean="0"/>
                      <m:t>т</m:t>
                    </m:r>
                    <m:r>
                      <m:rPr>
                        <m:nor/>
                      </m:rPr>
                      <a:rPr lang="en-US" altLang="zh-CN" dirty="0" smtClean="0"/>
                      <m:t>(</m:t>
                    </m:r>
                    <m:r>
                      <m:rPr>
                        <m:nor/>
                      </m:rPr>
                      <a:rPr lang="en-US" altLang="zh-CN" b="0" i="0" dirty="0" smtClean="0"/>
                      <m:t>D</m:t>
                    </m:r>
                    <m:r>
                      <m:rPr>
                        <m:nor/>
                      </m:rPr>
                      <a:rPr lang="en-US" altLang="zh-CN" dirty="0"/>
                      <m:t>)</m:t>
                    </m:r>
                    <m:r>
                      <m:rPr>
                        <m:nor/>
                      </m:rPr>
                      <a:rPr lang="en-US" altLang="zh-CN" b="0" i="0" dirty="0" smtClean="0"/>
                      <m:t> = −</m:t>
                    </m:r>
                    <m:r>
                      <m:rPr>
                        <m:nor/>
                      </m:rPr>
                      <a:rPr lang="en-US" altLang="zh-CN" b="0" i="0" dirty="0" smtClean="0"/>
                      <m:t>HSH</m:t>
                    </m:r>
                    <m:r>
                      <m:rPr>
                        <m:nor/>
                      </m:rPr>
                      <a:rPr lang="en-US" altLang="zh-CN" b="0" i="0" dirty="0" smtClean="0"/>
                      <m:t>/2</m:t>
                    </m:r>
                    <m:r>
                      <a:rPr lang="en-US" altLang="zh-CN" i="1" dirty="0">
                        <a:latin typeface="Cambria Math" panose="02040503050406030204" pitchFamily="18" charset="0"/>
                      </a:rPr>
                      <m:t> </m:t>
                    </m:r>
                  </m:oMath>
                </a14:m>
                <a:r>
                  <a:rPr lang="zh-CN" altLang="en-US" dirty="0"/>
                  <a:t>，</a:t>
                </a:r>
                <a:r>
                  <a:rPr lang="en-US" altLang="zh-CN" dirty="0"/>
                  <a:t>S</a:t>
                </a:r>
                <a:r>
                  <a:rPr lang="zh-CN" altLang="en-US" dirty="0"/>
                  <a:t>是距离平方构成的矩阵</a:t>
                </a:r>
                <a:r>
                  <a:rPr lang="en-US" altLang="zh-CN" dirty="0"/>
                  <a:t>{</a:t>
                </a:r>
                <a14:m>
                  <m:oMath xmlns:m="http://schemas.openxmlformats.org/officeDocument/2006/math">
                    <m:sSubSup>
                      <m:sSubSupPr>
                        <m:ctrlPr>
                          <a:rPr lang="zh-CN" altLang="en-US" i="1" dirty="0" smtClean="0">
                            <a:latin typeface="Cambria Math" panose="02040503050406030204" pitchFamily="18" charset="0"/>
                          </a:rPr>
                        </m:ctrlPr>
                      </m:sSubSupPr>
                      <m:e>
                        <m:r>
                          <a:rPr lang="en-US" altLang="zh-CN" b="0" i="1" dirty="0" smtClean="0">
                            <a:latin typeface="Cambria Math" panose="02040503050406030204" pitchFamily="18" charset="0"/>
                          </a:rPr>
                          <m:t>𝑆</m:t>
                        </m:r>
                      </m:e>
                      <m:sub>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sub>
                      <m:sup>
                        <m:r>
                          <a:rPr lang="en-US" altLang="zh-CN" b="0" i="1" dirty="0" smtClean="0">
                            <a:latin typeface="Cambria Math" panose="02040503050406030204" pitchFamily="18" charset="0"/>
                          </a:rPr>
                          <m:t> </m:t>
                        </m:r>
                      </m:sup>
                    </m:sSubSup>
                  </m:oMath>
                </a14:m>
                <a:r>
                  <a:rPr lang="en-US" altLang="zh-CN" dirty="0"/>
                  <a:t> = </a:t>
                </a:r>
                <a14:m>
                  <m:oMath xmlns:m="http://schemas.openxmlformats.org/officeDocument/2006/math">
                    <m:sSubSup>
                      <m:sSubSupPr>
                        <m:ctrlPr>
                          <a:rPr lang="zh-CN" altLang="en-US" i="1" dirty="0" smtClean="0">
                            <a:latin typeface="Cambria Math" panose="02040503050406030204" pitchFamily="18" charset="0"/>
                          </a:rPr>
                        </m:ctrlPr>
                      </m:sSubSupPr>
                      <m:e>
                        <m:r>
                          <a:rPr lang="en-US" altLang="zh-CN" b="0" i="1" dirty="0" smtClean="0">
                            <a:latin typeface="Cambria Math" panose="02040503050406030204" pitchFamily="18" charset="0"/>
                          </a:rPr>
                          <m:t>𝐷</m:t>
                        </m:r>
                      </m:e>
                      <m:sub>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sub>
                      <m:sup>
                        <m:r>
                          <a:rPr lang="zh-CN" altLang="en-US" i="0" dirty="0" smtClean="0">
                            <a:latin typeface="Cambria Math" panose="02040503050406030204" pitchFamily="18" charset="0"/>
                          </a:rPr>
                          <m:t>2</m:t>
                        </m:r>
                      </m:sup>
                    </m:sSubSup>
                  </m:oMath>
                </a14:m>
                <a:r>
                  <a:rPr lang="en-US" altLang="zh-CN" dirty="0"/>
                  <a:t>}</a:t>
                </a:r>
                <a:r>
                  <a:rPr lang="zh-CN" altLang="en-US" dirty="0"/>
                  <a:t>，</a:t>
                </a:r>
                <a:r>
                  <a:rPr lang="en-US" altLang="zh-CN" dirty="0"/>
                  <a:t>H</a:t>
                </a:r>
                <a:r>
                  <a:rPr lang="zh-CN" altLang="en-US" dirty="0"/>
                  <a:t>代表中心化矩阵</a:t>
                </a:r>
                <a:r>
                  <a:rPr lang="en-US" altLang="zh-CN" dirty="0"/>
                  <a:t>{</a:t>
                </a:r>
                <a14:m>
                  <m:oMath xmlns:m="http://schemas.openxmlformats.org/officeDocument/2006/math">
                    <m:sSubSup>
                      <m:sSubSupPr>
                        <m:ctrlPr>
                          <a:rPr lang="zh-CN" altLang="en-US" i="1" dirty="0" smtClean="0">
                            <a:latin typeface="Cambria Math" panose="02040503050406030204" pitchFamily="18" charset="0"/>
                          </a:rPr>
                        </m:ctrlPr>
                      </m:sSubSupPr>
                      <m:e>
                        <m:r>
                          <a:rPr lang="en-US" altLang="zh-CN" b="0" i="1" dirty="0" smtClean="0">
                            <a:latin typeface="Cambria Math" panose="02040503050406030204" pitchFamily="18" charset="0"/>
                          </a:rPr>
                          <m:t>𝐻</m:t>
                        </m:r>
                      </m:e>
                      <m:sub>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sub>
                      <m:sup>
                        <m:r>
                          <a:rPr lang="en-US" altLang="zh-CN" b="0" i="1" dirty="0" smtClean="0">
                            <a:latin typeface="Cambria Math" panose="02040503050406030204" pitchFamily="18" charset="0"/>
                          </a:rPr>
                          <m:t> </m:t>
                        </m:r>
                      </m:sup>
                    </m:sSubSup>
                    <m:r>
                      <a:rPr lang="en-US" altLang="zh-CN" b="0" i="1" dirty="0" smtClean="0">
                        <a:latin typeface="Cambria Math" panose="02040503050406030204" pitchFamily="18" charset="0"/>
                      </a:rPr>
                      <m:t>=</m:t>
                    </m:r>
                    <m:sSubSup>
                      <m:sSubSupPr>
                        <m:ctrlPr>
                          <a:rPr lang="zh-CN" altLang="en-US" i="1" dirty="0" smtClean="0">
                            <a:latin typeface="Cambria Math" panose="02040503050406030204" pitchFamily="18" charset="0"/>
                          </a:rPr>
                        </m:ctrlPr>
                      </m:sSubSupPr>
                      <m:e>
                        <m:r>
                          <m:rPr>
                            <m:sty m:val="p"/>
                          </m:rPr>
                          <a:rPr lang="el-GR" altLang="zh-CN" b="0" i="1" dirty="0" smtClean="0">
                            <a:latin typeface="Cambria Math" panose="02040503050406030204" pitchFamily="18" charset="0"/>
                          </a:rPr>
                          <m:t>δ</m:t>
                        </m:r>
                      </m:e>
                      <m:sub>
                        <m:r>
                          <a:rPr lang="zh-CN" altLang="en-US" i="0" dirty="0" smtClean="0">
                            <a:latin typeface="Cambria Math" panose="02040503050406030204" pitchFamily="18" charset="0"/>
                          </a:rPr>
                          <m:t>ⅈ</m:t>
                        </m:r>
                        <m:r>
                          <a:rPr lang="zh-CN" altLang="en-US" i="1" dirty="0" smtClean="0">
                            <a:latin typeface="Cambria Math" panose="02040503050406030204" pitchFamily="18" charset="0"/>
                          </a:rPr>
                          <m:t>𝑗</m:t>
                        </m:r>
                      </m:sub>
                      <m:sup>
                        <m:r>
                          <a:rPr lang="en-US" altLang="zh-CN" b="0" i="1" dirty="0" smtClean="0">
                            <a:latin typeface="Cambria Math" panose="02040503050406030204" pitchFamily="18" charset="0"/>
                          </a:rPr>
                          <m:t> </m:t>
                        </m:r>
                      </m:sup>
                    </m:sSubSup>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𝑁</m:t>
                    </m:r>
                  </m:oMath>
                </a14:m>
                <a:r>
                  <a:rPr lang="en-US" altLang="zh-CN" dirty="0"/>
                  <a:t>}</a:t>
                </a:r>
                <a:r>
                  <a:rPr lang="zh-CN" altLang="en-US" dirty="0"/>
                  <a:t>， </a:t>
                </a:r>
                <a14:m>
                  <m:oMath xmlns:m="http://schemas.openxmlformats.org/officeDocument/2006/math">
                    <m:sSub>
                      <m:sSubPr>
                        <m:ctrlPr>
                          <a:rPr lang="zh-CN" altLang="en-US" i="1" dirty="0" smtClean="0">
                            <a:latin typeface="Cambria Math" panose="02040503050406030204" pitchFamily="18" charset="0"/>
                          </a:rPr>
                        </m:ctrlPr>
                      </m:sSubPr>
                      <m:e>
                        <m:r>
                          <m:rPr>
                            <m:nor/>
                          </m:rPr>
                          <a:rPr lang="el-GR" altLang="zh-CN" dirty="0" smtClean="0"/>
                          <m:t>λ</m:t>
                        </m:r>
                      </m:e>
                      <m:sub>
                        <m:r>
                          <a:rPr lang="en-US" altLang="zh-CN" b="0" i="1" dirty="0" smtClean="0">
                            <a:latin typeface="Cambria Math" panose="02040503050406030204" pitchFamily="18" charset="0"/>
                          </a:rPr>
                          <m:t>𝑝</m:t>
                        </m:r>
                      </m:sub>
                    </m:sSub>
                    <m:r>
                      <a:rPr lang="zh-CN" altLang="en-US" i="1" dirty="0" smtClean="0">
                        <a:latin typeface="Cambria Math" panose="02040503050406030204" pitchFamily="18" charset="0"/>
                      </a:rPr>
                      <m:t> </m:t>
                    </m:r>
                  </m:oMath>
                </a14:m>
                <a:r>
                  <a:rPr lang="zh-CN" altLang="en-US" dirty="0"/>
                  <a:t>为</a:t>
                </a:r>
                <a14:m>
                  <m:oMath xmlns:m="http://schemas.openxmlformats.org/officeDocument/2006/math">
                    <m:r>
                      <m:rPr>
                        <m:nor/>
                      </m:rPr>
                      <a:rPr lang="az-Cyrl-AZ" altLang="zh-CN" dirty="0" smtClean="0"/>
                      <m:t>т</m:t>
                    </m:r>
                    <m:r>
                      <m:rPr>
                        <m:nor/>
                      </m:rPr>
                      <a:rPr lang="en-US" altLang="zh-CN" dirty="0" smtClean="0"/>
                      <m:t>(</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zh-CN" altLang="en-US" i="1" dirty="0" smtClean="0">
                            <a:latin typeface="Cambria Math" panose="02040503050406030204" pitchFamily="18" charset="0"/>
                          </a:rPr>
                          <m:t>𝐺</m:t>
                        </m:r>
                      </m:sub>
                    </m:sSub>
                    <m:r>
                      <m:rPr>
                        <m:nor/>
                      </m:rPr>
                      <a:rPr lang="en-US" altLang="zh-CN" dirty="0"/>
                      <m:t>)</m:t>
                    </m:r>
                    <m:r>
                      <a:rPr lang="zh-CN" altLang="en-US" i="1" dirty="0">
                        <a:latin typeface="Cambria Math" panose="02040503050406030204" pitchFamily="18" charset="0"/>
                      </a:rPr>
                      <m:t>第</m:t>
                    </m:r>
                  </m:oMath>
                </a14:m>
                <a:r>
                  <a:rPr lang="en-US" altLang="zh-CN" dirty="0"/>
                  <a:t>p</a:t>
                </a:r>
                <a:r>
                  <a:rPr lang="zh-CN" altLang="en-US" dirty="0"/>
                  <a:t>个特征值， </a:t>
                </a:r>
                <a14:m>
                  <m:oMath xmlns:m="http://schemas.openxmlformats.org/officeDocument/2006/math">
                    <m:sSub>
                      <m:sSubPr>
                        <m:ctrlPr>
                          <a:rPr lang="zh-CN" altLang="en-US" i="1" dirty="0" smtClean="0">
                            <a:latin typeface="Cambria Math" panose="02040503050406030204" pitchFamily="18" charset="0"/>
                          </a:rPr>
                        </m:ctrlPr>
                      </m:sSubPr>
                      <m:e>
                        <m:r>
                          <m:rPr>
                            <m:nor/>
                          </m:rPr>
                          <a:rPr lang="el-GR" altLang="zh-CN" dirty="0" smtClean="0"/>
                          <m:t>ν</m:t>
                        </m:r>
                      </m:e>
                      <m:sub>
                        <m:r>
                          <a:rPr lang="en-US" altLang="zh-CN" b="0" i="1" dirty="0" smtClean="0">
                            <a:latin typeface="Cambria Math" panose="02040503050406030204" pitchFamily="18" charset="0"/>
                          </a:rPr>
                          <m:t>𝑝</m:t>
                        </m:r>
                      </m:sub>
                    </m:sSub>
                    <m:r>
                      <a:rPr lang="zh-CN" altLang="en-US" i="1" dirty="0">
                        <a:latin typeface="Cambria Math" panose="02040503050406030204" pitchFamily="18" charset="0"/>
                      </a:rPr>
                      <m:t>为</m:t>
                    </m:r>
                    <m:sSub>
                      <m:sSubPr>
                        <m:ctrlPr>
                          <a:rPr lang="zh-CN" altLang="en-US" i="1" dirty="0" smtClean="0">
                            <a:latin typeface="Cambria Math" panose="02040503050406030204" pitchFamily="18" charset="0"/>
                          </a:rPr>
                        </m:ctrlPr>
                      </m:sSubPr>
                      <m:e>
                        <m:r>
                          <m:rPr>
                            <m:nor/>
                          </m:rPr>
                          <a:rPr lang="el-GR" altLang="zh-CN" dirty="0" smtClean="0"/>
                          <m:t>λ</m:t>
                        </m:r>
                      </m:e>
                      <m:sub>
                        <m:r>
                          <a:rPr lang="en-US" altLang="zh-CN" b="0" i="1" dirty="0" smtClean="0">
                            <a:latin typeface="Cambria Math" panose="02040503050406030204" pitchFamily="18" charset="0"/>
                          </a:rPr>
                          <m:t>𝑝</m:t>
                        </m:r>
                      </m:sub>
                    </m:sSub>
                  </m:oMath>
                </a14:m>
                <a:r>
                  <a:rPr lang="zh-CN" altLang="en-US" dirty="0"/>
                  <a:t>特征向量，当</a:t>
                </a:r>
                <a:r>
                  <a:rPr lang="en-US" altLang="zh-CN" dirty="0"/>
                  <a:t>Y</a:t>
                </a:r>
                <a:r>
                  <a:rPr lang="zh-CN" altLang="en-US" dirty="0"/>
                  <a:t>取</a:t>
                </a:r>
                <a14:m>
                  <m:oMath xmlns:m="http://schemas.openxmlformats.org/officeDocument/2006/math">
                    <m:r>
                      <m:rPr>
                        <m:nor/>
                      </m:rPr>
                      <a:rPr lang="az-Cyrl-AZ" altLang="zh-CN" dirty="0" smtClean="0"/>
                      <m:t>т</m:t>
                    </m:r>
                    <m:r>
                      <m:rPr>
                        <m:nor/>
                      </m:rPr>
                      <a:rPr lang="en-US" altLang="zh-CN" dirty="0" smtClean="0"/>
                      <m:t>(</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zh-CN" altLang="en-US" i="1" dirty="0" smtClean="0">
                            <a:latin typeface="Cambria Math" panose="02040503050406030204" pitchFamily="18" charset="0"/>
                          </a:rPr>
                          <m:t>𝐺</m:t>
                        </m:r>
                      </m:sub>
                    </m:sSub>
                    <m:r>
                      <m:rPr>
                        <m:nor/>
                      </m:rPr>
                      <a:rPr lang="en-US" altLang="zh-CN" dirty="0"/>
                      <m:t>)</m:t>
                    </m:r>
                  </m:oMath>
                </a14:m>
                <a:r>
                  <a:rPr lang="zh-CN" altLang="en-US" dirty="0"/>
                  <a:t>最大的</a:t>
                </a:r>
                <a:r>
                  <a:rPr lang="en-US" altLang="zh-CN" dirty="0"/>
                  <a:t>d</a:t>
                </a:r>
                <a:r>
                  <a:rPr lang="zh-CN" altLang="en-US" dirty="0"/>
                  <a:t>个特征值相应的特征向量时，则</a:t>
                </a:r>
                <a:r>
                  <a:rPr lang="en-US" altLang="zh-CN" dirty="0"/>
                  <a:t>Y=[</a:t>
                </a:r>
                <a14:m>
                  <m:oMath xmlns:m="http://schemas.openxmlformats.org/officeDocument/2006/math">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a:rPr lang="en-US" altLang="zh-CN" b="0" i="1" dirty="0" smtClean="0">
                            <a:latin typeface="Cambria Math" panose="02040503050406030204" pitchFamily="18" charset="0"/>
                          </a:rPr>
                          <m:t>𝑁</m:t>
                        </m:r>
                      </m:sub>
                    </m:sSub>
                  </m:oMath>
                </a14:m>
                <a:r>
                  <a:rPr lang="en-US" altLang="zh-CN" dirty="0"/>
                  <a:t>]=[</a:t>
                </a:r>
                <a14:m>
                  <m:oMath xmlns:m="http://schemas.openxmlformats.org/officeDocument/2006/math">
                    <m:rad>
                      <m:radPr>
                        <m:degHide m:val="on"/>
                        <m:ctrlPr>
                          <a:rPr lang="zh-CN" altLang="en-US" i="1" dirty="0" smtClean="0">
                            <a:latin typeface="Cambria Math" panose="02040503050406030204" pitchFamily="18" charset="0"/>
                          </a:rPr>
                        </m:ctrlPr>
                      </m:radPr>
                      <m:deg/>
                      <m:e>
                        <m:sSub>
                          <m:sSubPr>
                            <m:ctrlPr>
                              <a:rPr lang="zh-CN" altLang="en-US" i="1" dirty="0" smtClean="0">
                                <a:latin typeface="Cambria Math" panose="02040503050406030204" pitchFamily="18" charset="0"/>
                              </a:rPr>
                            </m:ctrlPr>
                          </m:sSubPr>
                          <m:e>
                            <m:r>
                              <m:rPr>
                                <m:nor/>
                              </m:rPr>
                              <a:rPr lang="el-GR" altLang="zh-CN" dirty="0" smtClean="0"/>
                              <m:t>λ</m:t>
                            </m:r>
                          </m:e>
                          <m:sub>
                            <m:r>
                              <a:rPr lang="en-US" altLang="zh-CN" b="0" i="1" dirty="0" smtClean="0">
                                <a:latin typeface="Cambria Math" panose="02040503050406030204" pitchFamily="18" charset="0"/>
                              </a:rPr>
                              <m:t>1</m:t>
                            </m:r>
                          </m:sub>
                        </m:sSub>
                      </m:e>
                    </m:rad>
                  </m:oMath>
                </a14:m>
                <a:r>
                  <a:rPr lang="zh-CN" altLang="en-US" dirty="0"/>
                  <a:t> </a:t>
                </a:r>
                <a14:m>
                  <m:oMath xmlns:m="http://schemas.openxmlformats.org/officeDocument/2006/math">
                    <m:sSub>
                      <m:sSubPr>
                        <m:ctrlPr>
                          <a:rPr lang="zh-CN" altLang="en-US" i="1" dirty="0" smtClean="0">
                            <a:latin typeface="Cambria Math" panose="02040503050406030204" pitchFamily="18" charset="0"/>
                          </a:rPr>
                        </m:ctrlPr>
                      </m:sSubPr>
                      <m:e>
                        <m:r>
                          <m:rPr>
                            <m:nor/>
                          </m:rPr>
                          <a:rPr lang="el-GR" altLang="zh-CN" dirty="0" smtClean="0"/>
                          <m:t>ν</m:t>
                        </m:r>
                      </m:e>
                      <m:sub>
                        <m:r>
                          <a:rPr lang="en-US" altLang="zh-CN" b="0" i="1" dirty="0" smtClean="0">
                            <a:latin typeface="Cambria Math" panose="02040503050406030204" pitchFamily="18" charset="0"/>
                          </a:rPr>
                          <m:t>1</m:t>
                        </m:r>
                      </m:sub>
                    </m:sSub>
                  </m:oMath>
                </a14:m>
                <a:r>
                  <a:rPr lang="en-US" altLang="zh-CN" dirty="0"/>
                  <a:t>,………..</a:t>
                </a:r>
                <a:r>
                  <a:rPr lang="zh-CN" altLang="en-US" dirty="0"/>
                  <a:t> </a:t>
                </a:r>
                <a14:m>
                  <m:oMath xmlns:m="http://schemas.openxmlformats.org/officeDocument/2006/math">
                    <m:rad>
                      <m:radPr>
                        <m:degHide m:val="on"/>
                        <m:ctrlPr>
                          <a:rPr lang="zh-CN" altLang="en-US" i="1" dirty="0" smtClean="0">
                            <a:latin typeface="Cambria Math" panose="02040503050406030204" pitchFamily="18" charset="0"/>
                          </a:rPr>
                        </m:ctrlPr>
                      </m:radPr>
                      <m:deg/>
                      <m:e>
                        <m:sSub>
                          <m:sSubPr>
                            <m:ctrlPr>
                              <a:rPr lang="zh-CN" altLang="en-US" i="1" dirty="0" smtClean="0">
                                <a:latin typeface="Cambria Math" panose="02040503050406030204" pitchFamily="18" charset="0"/>
                              </a:rPr>
                            </m:ctrlPr>
                          </m:sSubPr>
                          <m:e>
                            <m:r>
                              <m:rPr>
                                <m:nor/>
                              </m:rPr>
                              <a:rPr lang="el-GR" altLang="zh-CN" dirty="0" smtClean="0"/>
                              <m:t>λ</m:t>
                            </m:r>
                          </m:e>
                          <m:sub>
                            <m:r>
                              <a:rPr lang="en-US" altLang="zh-CN" b="0" i="1" dirty="0" smtClean="0">
                                <a:latin typeface="Cambria Math" panose="02040503050406030204" pitchFamily="18" charset="0"/>
                              </a:rPr>
                              <m:t>𝑑</m:t>
                            </m:r>
                          </m:sub>
                        </m:sSub>
                      </m:e>
                    </m:rad>
                  </m:oMath>
                </a14:m>
                <a:r>
                  <a:rPr lang="zh-CN" altLang="en-US" dirty="0"/>
                  <a:t> </a:t>
                </a:r>
                <a14:m>
                  <m:oMath xmlns:m="http://schemas.openxmlformats.org/officeDocument/2006/math">
                    <m:sSub>
                      <m:sSubPr>
                        <m:ctrlPr>
                          <a:rPr lang="zh-CN" altLang="en-US" i="1" dirty="0" smtClean="0">
                            <a:latin typeface="Cambria Math" panose="02040503050406030204" pitchFamily="18" charset="0"/>
                          </a:rPr>
                        </m:ctrlPr>
                      </m:sSubPr>
                      <m:e>
                        <m:r>
                          <m:rPr>
                            <m:nor/>
                          </m:rPr>
                          <a:rPr lang="el-GR" altLang="zh-CN" dirty="0" smtClean="0"/>
                          <m:t>ν</m:t>
                        </m:r>
                      </m:e>
                      <m:sub>
                        <m:r>
                          <a:rPr lang="en-US" altLang="zh-CN" b="0" i="1" dirty="0" smtClean="0">
                            <a:latin typeface="Cambria Math" panose="02040503050406030204" pitchFamily="18" charset="0"/>
                          </a:rPr>
                          <m:t>𝑑</m:t>
                        </m:r>
                      </m:sub>
                    </m:sSub>
                  </m:oMath>
                </a14:m>
                <a:r>
                  <a:rPr lang="en-US" altLang="zh-CN" dirty="0"/>
                  <a:t>]</a:t>
                </a:r>
                <a14:m>
                  <m:oMath xmlns:m="http://schemas.openxmlformats.org/officeDocument/2006/math">
                    <m:sSup>
                      <m:sSupPr>
                        <m:ctrlPr>
                          <a:rPr lang="zh-CN" altLang="en-US" i="1" dirty="0" smtClean="0">
                            <a:latin typeface="Cambria Math" panose="02040503050406030204" pitchFamily="18" charset="0"/>
                          </a:rPr>
                        </m:ctrlPr>
                      </m:sSupPr>
                      <m:e>
                        <m:r>
                          <a:rPr lang="en-US" altLang="zh-CN" b="0" i="0" dirty="0" smtClean="0">
                            <a:latin typeface="Cambria Math" panose="02040503050406030204" pitchFamily="18" charset="0"/>
                          </a:rPr>
                          <m:t> </m:t>
                        </m:r>
                      </m:e>
                      <m:sup>
                        <m:r>
                          <a:rPr lang="zh-CN" altLang="en-US" i="1" dirty="0">
                            <a:latin typeface="Cambria Math" panose="02040503050406030204" pitchFamily="18" charset="0"/>
                          </a:rPr>
                          <m:t>𝑇</m:t>
                        </m:r>
                      </m:sup>
                    </m:sSup>
                    <m:r>
                      <a:rPr lang="en-US" altLang="zh-CN" b="0" i="1" dirty="0" smtClean="0">
                        <a:latin typeface="Cambria Math" panose="02040503050406030204" pitchFamily="18" charset="0"/>
                      </a:rPr>
                      <m:t>  </m:t>
                    </m:r>
                  </m:oMath>
                </a14:m>
                <a:r>
                  <a:rPr lang="zh-CN" altLang="en-US" dirty="0"/>
                  <a:t>上式达最小</a:t>
                </a:r>
              </a:p>
            </p:txBody>
          </p:sp>
        </mc:Choice>
        <mc:Fallback>
          <p:sp>
            <p:nvSpPr>
              <p:cNvPr id="18" name="文本框 17">
                <a:extLst>
                  <a:ext uri="{FF2B5EF4-FFF2-40B4-BE49-F238E27FC236}">
                    <a16:creationId xmlns:a16="http://schemas.microsoft.com/office/drawing/2014/main" id="{AE6D73EC-FE4E-4D7F-A4C4-38A895B4FFF6}"/>
                  </a:ext>
                </a:extLst>
              </p:cNvPr>
              <p:cNvSpPr txBox="1">
                <a:spLocks noRot="1" noChangeAspect="1" noMove="1" noResize="1" noEditPoints="1" noAdjustHandles="1" noChangeArrowheads="1" noChangeShapeType="1" noTextEdit="1"/>
              </p:cNvSpPr>
              <p:nvPr/>
            </p:nvSpPr>
            <p:spPr>
              <a:xfrm>
                <a:off x="3784600" y="174070"/>
                <a:ext cx="8407400" cy="6873933"/>
              </a:xfrm>
              <a:prstGeom prst="rect">
                <a:avLst/>
              </a:prstGeom>
              <a:blipFill>
                <a:blip r:embed="rId2"/>
                <a:stretch>
                  <a:fillRect l="-653" t="-5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0940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2630A8C-C171-49C5-96C8-70FF2C1CD590}"/>
              </a:ext>
            </a:extLst>
          </p:cNvPr>
          <p:cNvSpPr txBox="1"/>
          <p:nvPr/>
        </p:nvSpPr>
        <p:spPr>
          <a:xfrm>
            <a:off x="482600" y="368300"/>
            <a:ext cx="8686800" cy="5078313"/>
          </a:xfrm>
          <a:prstGeom prst="rect">
            <a:avLst/>
          </a:prstGeom>
          <a:noFill/>
        </p:spPr>
        <p:txBody>
          <a:bodyPr wrap="square" rtlCol="0">
            <a:spAutoFit/>
          </a:bodyPr>
          <a:lstStyle/>
          <a:p>
            <a:r>
              <a:rPr lang="zh-CN" altLang="en-US" dirty="0"/>
              <a:t>支持向量机（</a:t>
            </a:r>
            <a:r>
              <a:rPr lang="en-US" altLang="zh-CN" dirty="0"/>
              <a:t>SVM</a:t>
            </a:r>
            <a:r>
              <a:rPr lang="zh-CN" altLang="en-US" dirty="0"/>
              <a:t>）</a:t>
            </a:r>
            <a:endParaRPr lang="en-US" altLang="zh-CN" dirty="0"/>
          </a:p>
          <a:p>
            <a:endParaRPr lang="en-US" altLang="zh-CN" dirty="0"/>
          </a:p>
          <a:p>
            <a:r>
              <a:rPr lang="zh-CN" altLang="en-US" dirty="0"/>
              <a:t>支持向量机是通过核函数将低维空间中的线性不可分特征数据进行非线性转换，并且将这个数据映射到高维空间中，从而使得数据在高维空间可以进行线性可分，并且</a:t>
            </a:r>
            <a:r>
              <a:rPr lang="en-US" altLang="zh-CN" dirty="0"/>
              <a:t>SVM</a:t>
            </a:r>
            <a:r>
              <a:rPr lang="zh-CN" altLang="en-US" dirty="0"/>
              <a:t>具有良好的鲁棒性，可以解决叶片样本数量少，非线性特征数据和特征维度高的问题，这里采用</a:t>
            </a:r>
            <a:r>
              <a:rPr lang="en-US" altLang="zh-CN" dirty="0"/>
              <a:t>SVM</a:t>
            </a:r>
            <a:r>
              <a:rPr lang="zh-CN" altLang="en-US" dirty="0"/>
              <a:t>分类器进行分类识别</a:t>
            </a:r>
            <a:endParaRPr lang="en-US" altLang="zh-CN" dirty="0"/>
          </a:p>
          <a:p>
            <a:endParaRPr lang="en-US" altLang="zh-CN" dirty="0"/>
          </a:p>
          <a:p>
            <a:r>
              <a:rPr lang="en-US" altLang="zh-CN" dirty="0"/>
              <a:t>SVM</a:t>
            </a:r>
            <a:r>
              <a:rPr lang="zh-CN" altLang="en-US" dirty="0"/>
              <a:t>本身是个二类分类模型，基础模型是特征空间上间隔最大化的线性分类器，但是支持向量机还包括核技巧，可以使他成为非线性分类器，将线性</a:t>
            </a:r>
            <a:r>
              <a:rPr lang="en-US" altLang="zh-CN" dirty="0"/>
              <a:t>SVM</a:t>
            </a:r>
            <a:r>
              <a:rPr lang="zh-CN" altLang="en-US" dirty="0"/>
              <a:t>扩到非线性</a:t>
            </a:r>
            <a:r>
              <a:rPr lang="en-US" altLang="zh-CN" dirty="0"/>
              <a:t>SVM</a:t>
            </a:r>
            <a:r>
              <a:rPr lang="zh-CN" altLang="en-US" dirty="0"/>
              <a:t>只需要将线性支持向量机对偶形式中的内积换成核函数</a:t>
            </a:r>
            <a:endParaRPr lang="en-US" altLang="zh-CN" dirty="0"/>
          </a:p>
          <a:p>
            <a:endParaRPr lang="en-US" altLang="zh-CN" dirty="0"/>
          </a:p>
          <a:p>
            <a:r>
              <a:rPr lang="zh-CN" altLang="en-US" dirty="0"/>
              <a:t>非线性支持向量机学习算法</a:t>
            </a:r>
            <a:endParaRPr lang="en-US" altLang="zh-CN" dirty="0"/>
          </a:p>
          <a:p>
            <a:r>
              <a:rPr lang="en-US" altLang="zh-CN" dirty="0"/>
              <a:t>1</a:t>
            </a:r>
            <a:r>
              <a:rPr lang="zh-CN" altLang="en-US" dirty="0"/>
              <a:t>：选取适当的核函数</a:t>
            </a:r>
            <a:r>
              <a:rPr lang="en-US" altLang="zh-CN" dirty="0"/>
              <a:t>K</a:t>
            </a:r>
            <a:r>
              <a:rPr lang="zh-CN" altLang="en-US" dirty="0"/>
              <a:t>（</a:t>
            </a:r>
            <a:r>
              <a:rPr lang="en-US" altLang="zh-CN" dirty="0" err="1"/>
              <a:t>x,z</a:t>
            </a:r>
            <a:r>
              <a:rPr lang="zh-CN" altLang="en-US" dirty="0"/>
              <a:t>）和适当的参数</a:t>
            </a:r>
            <a:r>
              <a:rPr lang="en-US" altLang="zh-CN" dirty="0"/>
              <a:t>C</a:t>
            </a:r>
            <a:r>
              <a:rPr lang="zh-CN" altLang="en-US" dirty="0"/>
              <a:t>，构造并求解最优化问题</a:t>
            </a:r>
            <a:endParaRPr lang="en-US" altLang="zh-CN" dirty="0"/>
          </a:p>
          <a:p>
            <a:r>
              <a:rPr lang="en-US" altLang="zh-CN" dirty="0"/>
              <a:t>2</a:t>
            </a:r>
            <a:r>
              <a:rPr lang="zh-CN" altLang="en-US" dirty="0"/>
              <a:t>：选择的一个正分量</a:t>
            </a:r>
            <a:r>
              <a:rPr lang="en-US" altLang="zh-CN" dirty="0"/>
              <a:t>0&lt;&lt;C,</a:t>
            </a:r>
          </a:p>
          <a:p>
            <a:r>
              <a:rPr lang="en-US" altLang="zh-CN" dirty="0"/>
              <a:t>3</a:t>
            </a:r>
            <a:r>
              <a:rPr lang="zh-CN" altLang="en-US" dirty="0"/>
              <a:t>：构造决策函数</a:t>
            </a:r>
            <a:endParaRPr lang="en-US" altLang="zh-CN" dirty="0"/>
          </a:p>
          <a:p>
            <a:endParaRPr lang="en-US" altLang="zh-CN" dirty="0"/>
          </a:p>
          <a:p>
            <a:r>
              <a:rPr lang="zh-CN" altLang="en-US" dirty="0"/>
              <a:t>当</a:t>
            </a:r>
            <a:r>
              <a:rPr lang="en-US" altLang="zh-CN" dirty="0"/>
              <a:t>K</a:t>
            </a:r>
            <a:r>
              <a:rPr lang="zh-CN" altLang="en-US" dirty="0"/>
              <a:t>（</a:t>
            </a:r>
            <a:r>
              <a:rPr lang="en-US" altLang="zh-CN" dirty="0" err="1"/>
              <a:t>x,z</a:t>
            </a:r>
            <a:r>
              <a:rPr lang="en-US" altLang="zh-CN" dirty="0"/>
              <a:t>)</a:t>
            </a:r>
            <a:r>
              <a:rPr lang="zh-CN" altLang="en-US" dirty="0"/>
              <a:t>是正定核函数时候，上述算法是凸二次规划问题，存在解</a:t>
            </a:r>
            <a:endParaRPr lang="en-US" altLang="zh-CN" dirty="0"/>
          </a:p>
          <a:p>
            <a:endParaRPr lang="en-US" altLang="zh-CN" dirty="0"/>
          </a:p>
        </p:txBody>
      </p:sp>
    </p:spTree>
    <p:extLst>
      <p:ext uri="{BB962C8B-B14F-4D97-AF65-F5344CB8AC3E}">
        <p14:creationId xmlns:p14="http://schemas.microsoft.com/office/powerpoint/2010/main" val="979786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A3E8913-4CB4-4340-A5A7-923D2A1F0AE7}"/>
              </a:ext>
            </a:extLst>
          </p:cNvPr>
          <p:cNvSpPr txBox="1"/>
          <p:nvPr/>
        </p:nvSpPr>
        <p:spPr>
          <a:xfrm>
            <a:off x="474132" y="462845"/>
            <a:ext cx="1580445" cy="461665"/>
          </a:xfrm>
          <a:prstGeom prst="rect">
            <a:avLst/>
          </a:prstGeom>
          <a:noFill/>
        </p:spPr>
        <p:txBody>
          <a:bodyPr wrap="square" rtlCol="0">
            <a:spAutoFit/>
          </a:bodyPr>
          <a:lstStyle/>
          <a:p>
            <a:r>
              <a:rPr lang="zh-CN" altLang="en-US" sz="2400" dirty="0"/>
              <a:t>评估方法</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E68F015-BE5C-43E2-AE0F-D2B35C2144EF}"/>
                  </a:ext>
                </a:extLst>
              </p:cNvPr>
              <p:cNvSpPr txBox="1"/>
              <p:nvPr/>
            </p:nvSpPr>
            <p:spPr>
              <a:xfrm>
                <a:off x="1411110" y="1120676"/>
                <a:ext cx="7890934" cy="4869666"/>
              </a:xfrm>
              <a:prstGeom prst="rect">
                <a:avLst/>
              </a:prstGeom>
              <a:noFill/>
            </p:spPr>
            <p:txBody>
              <a:bodyPr wrap="square" rtlCol="0">
                <a:spAutoFit/>
              </a:bodyPr>
              <a:lstStyle/>
              <a:p>
                <a:r>
                  <a:rPr lang="zh-CN" altLang="en-US" dirty="0"/>
                  <a:t>数据集</a:t>
                </a:r>
                <a:r>
                  <a:rPr lang="en-US" altLang="zh-CN" dirty="0"/>
                  <a:t>D</a:t>
                </a:r>
                <a:r>
                  <a:rPr lang="zh-CN" altLang="en-US" dirty="0"/>
                  <a:t>获取以后，将其分为测试集</a:t>
                </a:r>
                <a:r>
                  <a:rPr lang="en-US" altLang="zh-CN" dirty="0"/>
                  <a:t>S</a:t>
                </a:r>
                <a:r>
                  <a:rPr lang="zh-CN" altLang="en-US" dirty="0"/>
                  <a:t>和测试机</a:t>
                </a:r>
                <a:r>
                  <a:rPr lang="en-US" altLang="zh-CN" dirty="0"/>
                  <a:t>T</a:t>
                </a:r>
                <a:r>
                  <a:rPr lang="zh-CN" altLang="en-US" dirty="0"/>
                  <a:t>，这里包含了</a:t>
                </a:r>
                <a:r>
                  <a:rPr lang="en-US" altLang="zh-CN" dirty="0"/>
                  <a:t>m</a:t>
                </a:r>
                <a:r>
                  <a:rPr lang="zh-CN" altLang="en-US" dirty="0"/>
                  <a:t>个样例，既要做训练也要做评估测试，一般来说测试集和训练集需要互斥，得到泛化性能强的模型，而模型的评估是通过实验测试，以训练集上的测试误差作为泛化误差的近似。所以数据集的处理就显得格外重要了，一般有三种做法，留出法，交叉验证法，自助法，这里由于数据集的较小，保留了一部分样本作为测试，因此实际评估模型的训练集比</a:t>
                </a:r>
                <a:r>
                  <a:rPr lang="en-US" altLang="zh-CN" dirty="0"/>
                  <a:t>D</a:t>
                </a:r>
                <a:r>
                  <a:rPr lang="zh-CN" altLang="en-US" dirty="0"/>
                  <a:t>小，必然引起训练样本规模不同导致的估计偏差，这里采用自助法进行数据集的分割。</a:t>
                </a:r>
                <a:endParaRPr lang="en-US" altLang="zh-CN" dirty="0"/>
              </a:p>
              <a:p>
                <a:endParaRPr lang="en-US" altLang="zh-CN" dirty="0"/>
              </a:p>
              <a:p>
                <a:r>
                  <a:rPr lang="zh-CN" altLang="en-US" dirty="0"/>
                  <a:t>方法</a:t>
                </a:r>
                <a:endParaRPr lang="en-US" altLang="zh-CN" dirty="0"/>
              </a:p>
              <a:p>
                <a:r>
                  <a:rPr lang="en-US" altLang="zh-CN" dirty="0"/>
                  <a:t>1</a:t>
                </a:r>
                <a:r>
                  <a:rPr lang="zh-CN" altLang="en-US" dirty="0"/>
                  <a:t>：从包含ｍ样本的总的数据集</a:t>
                </a:r>
                <a:r>
                  <a:rPr lang="en-US" altLang="zh-CN" dirty="0"/>
                  <a:t>D</a:t>
                </a:r>
                <a:r>
                  <a:rPr lang="zh-CN" altLang="en-US" dirty="0"/>
                  <a:t>中抽取一个样本出来，放入Ｄ</a:t>
                </a:r>
                <a:r>
                  <a:rPr lang="en-US" altLang="zh-CN" dirty="0"/>
                  <a:t>´</a:t>
                </a:r>
              </a:p>
              <a:p>
                <a:r>
                  <a:rPr lang="en-US" altLang="zh-CN" dirty="0"/>
                  <a:t>2</a:t>
                </a:r>
                <a:r>
                  <a:rPr lang="zh-CN" altLang="en-US" dirty="0"/>
                  <a:t>：将抽取的那个样本放回</a:t>
                </a:r>
                <a:r>
                  <a:rPr lang="en-US" altLang="zh-CN" dirty="0"/>
                  <a:t>D</a:t>
                </a:r>
                <a:r>
                  <a:rPr lang="zh-CN" altLang="en-US" dirty="0"/>
                  <a:t>中</a:t>
                </a:r>
                <a:endParaRPr lang="en-US" altLang="zh-CN" dirty="0"/>
              </a:p>
              <a:p>
                <a:r>
                  <a:rPr lang="en-US" altLang="zh-CN" dirty="0"/>
                  <a:t>3</a:t>
                </a:r>
                <a:r>
                  <a:rPr lang="zh-CN" altLang="en-US" dirty="0"/>
                  <a:t>：重复</a:t>
                </a:r>
                <a:r>
                  <a:rPr lang="en-US" altLang="zh-CN" dirty="0"/>
                  <a:t>1</a:t>
                </a:r>
                <a:r>
                  <a:rPr lang="zh-CN" altLang="en-US" dirty="0"/>
                  <a:t>，</a:t>
                </a:r>
                <a:r>
                  <a:rPr lang="en-US" altLang="zh-CN" dirty="0"/>
                  <a:t>2</a:t>
                </a:r>
                <a:r>
                  <a:rPr lang="zh-CN" altLang="en-US" dirty="0"/>
                  <a:t>操作</a:t>
                </a:r>
                <a:r>
                  <a:rPr lang="en-US" altLang="zh-CN" dirty="0"/>
                  <a:t>m</a:t>
                </a:r>
                <a:r>
                  <a:rPr lang="zh-CN" altLang="en-US" dirty="0"/>
                  <a:t>次</a:t>
                </a:r>
                <a:endParaRPr lang="en-US" altLang="zh-CN" dirty="0"/>
              </a:p>
              <a:p>
                <a:endParaRPr lang="en-US" altLang="zh-CN" dirty="0"/>
              </a:p>
              <a:p>
                <a:r>
                  <a:rPr lang="zh-CN" altLang="en-US" dirty="0"/>
                  <a:t>在</a:t>
                </a:r>
                <a:r>
                  <a:rPr lang="en-US" altLang="zh-CN" dirty="0"/>
                  <a:t>D</a:t>
                </a:r>
                <a:r>
                  <a:rPr lang="zh-CN" altLang="en-US" dirty="0"/>
                  <a:t>中有部分样本是不会被抽取到Ｄ</a:t>
                </a:r>
                <a:r>
                  <a:rPr lang="en-US" altLang="zh-CN" dirty="0"/>
                  <a:t>´</a:t>
                </a:r>
                <a:r>
                  <a:rPr lang="zh-CN" altLang="en-US" dirty="0"/>
                  <a:t>中，此概率为</a:t>
                </a:r>
                <a:endParaRPr lang="en-US" altLang="zh-CN" dirty="0"/>
              </a:p>
              <a:p>
                <a:pPr/>
                <a14:m>
                  <m:oMathPara xmlns:m="http://schemas.openxmlformats.org/officeDocument/2006/math">
                    <m:oMathParaPr>
                      <m:jc m:val="centerGroup"/>
                    </m:oMathParaPr>
                    <m:oMath xmlns:m="http://schemas.openxmlformats.org/officeDocument/2006/math">
                      <m:limLow>
                        <m:limLowPr>
                          <m:ctrlPr>
                            <a:rPr lang="en-US" altLang="zh-CN" i="1" dirty="0" smtClean="0">
                              <a:latin typeface="Cambria Math" panose="02040503050406030204" pitchFamily="18" charset="0"/>
                            </a:rPr>
                          </m:ctrlPr>
                        </m:limLowPr>
                        <m:e>
                          <m:r>
                            <m:rPr>
                              <m:sty m:val="p"/>
                            </m:rPr>
                            <a:rPr lang="en-US" altLang="zh-CN" dirty="0" smtClean="0">
                              <a:latin typeface="Cambria Math" panose="02040503050406030204" pitchFamily="18" charset="0"/>
                            </a:rPr>
                            <m:t>lim</m:t>
                          </m:r>
                        </m:e>
                        <m:lim>
                          <m:r>
                            <a:rPr lang="en-US" altLang="zh-CN" i="1" dirty="0" smtClean="0">
                              <a:latin typeface="Cambria Math" panose="02040503050406030204" pitchFamily="18" charset="0"/>
                            </a:rPr>
                            <m:t>𝑚</m:t>
                          </m:r>
                          <m:r>
                            <a:rPr lang="en-US" altLang="zh-CN" i="0" dirty="0" smtClean="0">
                              <a:latin typeface="Cambria Math" panose="02040503050406030204" pitchFamily="18" charset="0"/>
                            </a:rPr>
                            <m:t>→∞</m:t>
                          </m:r>
                        </m:lim>
                      </m:limLow>
                      <m:d>
                        <m:dPr>
                          <m:ctrlPr>
                            <a:rPr lang="en-US" altLang="zh-CN" i="1" dirty="0" smtClean="0">
                              <a:latin typeface="Cambria Math" panose="02040503050406030204" pitchFamily="18" charset="0"/>
                            </a:rPr>
                          </m:ctrlPr>
                        </m:dPr>
                        <m:e>
                          <m:r>
                            <a:rPr lang="en-US" altLang="zh-CN" i="0" dirty="0" smtClean="0">
                              <a:latin typeface="Cambria Math" panose="02040503050406030204" pitchFamily="18" charset="0"/>
                            </a:rPr>
                            <m:t>1</m:t>
                          </m:r>
                          <m:r>
                            <a:rPr lang="en-US" altLang="zh-CN" b="0" i="1" dirty="0" smtClean="0">
                              <a:latin typeface="Cambria Math" panose="02040503050406030204" pitchFamily="18" charset="0"/>
                            </a:rPr>
                            <m:t>  − </m:t>
                          </m:r>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m:t>
                              </m:r>
                            </m:num>
                            <m:den>
                              <m:r>
                                <a:rPr lang="en-US" altLang="zh-CN" b="0" i="1" dirty="0" smtClean="0">
                                  <a:latin typeface="Cambria Math" panose="02040503050406030204" pitchFamily="18" charset="0"/>
                                </a:rPr>
                                <m:t>𝑚</m:t>
                              </m:r>
                            </m:den>
                          </m:f>
                        </m:e>
                      </m:d>
                      <m:groupChr>
                        <m:groupChrPr>
                          <m:chr m:val="→"/>
                          <m:vertJc m:val="bot"/>
                          <m:ctrlPr>
                            <a:rPr lang="en-US" altLang="zh-CN" i="1" dirty="0" smtClean="0">
                              <a:latin typeface="Cambria Math" panose="02040503050406030204" pitchFamily="18" charset="0"/>
                            </a:rPr>
                          </m:ctrlPr>
                        </m:groupChrPr>
                        <m:e>
                          <m:r>
                            <a:rPr lang="en-US" altLang="zh-CN" i="1" dirty="0" smtClean="0">
                              <a:latin typeface="Cambria Math" panose="02040503050406030204" pitchFamily="18" charset="0"/>
                            </a:rPr>
                            <m:t>𝑚</m:t>
                          </m:r>
                        </m:e>
                      </m:groupChr>
                      <m:f>
                        <m:fPr>
                          <m:ctrlPr>
                            <a:rPr lang="en-US" altLang="zh-CN" i="1" dirty="0" smtClean="0">
                              <a:latin typeface="Cambria Math" panose="02040503050406030204" pitchFamily="18" charset="0"/>
                            </a:rPr>
                          </m:ctrlPr>
                        </m:fPr>
                        <m:num>
                          <m:r>
                            <a:rPr lang="en-US" altLang="zh-CN" i="0" dirty="0" smtClean="0">
                              <a:latin typeface="Cambria Math" panose="02040503050406030204" pitchFamily="18" charset="0"/>
                            </a:rPr>
                            <m:t>1</m:t>
                          </m:r>
                        </m:num>
                        <m:den>
                          <m:r>
                            <a:rPr lang="en-US" altLang="zh-CN" i="0" dirty="0" smtClean="0">
                              <a:latin typeface="Cambria Math" panose="02040503050406030204" pitchFamily="18" charset="0"/>
                            </a:rPr>
                            <m:t>ⅇ</m:t>
                          </m:r>
                        </m:den>
                      </m:f>
                      <m:r>
                        <a:rPr lang="en-US" altLang="zh-CN" i="0" dirty="0" smtClean="0">
                          <a:latin typeface="Cambria Math" panose="02040503050406030204" pitchFamily="18" charset="0"/>
                        </a:rPr>
                        <m:t>≈0.368</m:t>
                      </m:r>
                    </m:oMath>
                  </m:oMathPara>
                </a14:m>
                <a:endParaRPr lang="en-US" altLang="zh-CN" dirty="0"/>
              </a:p>
              <a:p>
                <a:r>
                  <a:rPr lang="zh-CN" altLang="en-US" dirty="0"/>
                  <a:t>也就是大概</a:t>
                </a:r>
                <a:r>
                  <a:rPr lang="en-US" altLang="zh-CN" dirty="0"/>
                  <a:t>1/3</a:t>
                </a:r>
                <a:r>
                  <a:rPr lang="zh-CN" altLang="en-US" dirty="0"/>
                  <a:t>的数据用于测试，这样的测试结果称为包外估计</a:t>
                </a:r>
                <a:endParaRPr lang="en-US" altLang="zh-CN" dirty="0"/>
              </a:p>
            </p:txBody>
          </p:sp>
        </mc:Choice>
        <mc:Fallback xmlns="">
          <p:sp>
            <p:nvSpPr>
              <p:cNvPr id="2" name="文本框 1">
                <a:extLst>
                  <a:ext uri="{FF2B5EF4-FFF2-40B4-BE49-F238E27FC236}">
                    <a16:creationId xmlns:a16="http://schemas.microsoft.com/office/drawing/2014/main" id="{5E68F015-BE5C-43E2-AE0F-D2B35C2144EF}"/>
                  </a:ext>
                </a:extLst>
              </p:cNvPr>
              <p:cNvSpPr txBox="1">
                <a:spLocks noRot="1" noChangeAspect="1" noMove="1" noResize="1" noEditPoints="1" noAdjustHandles="1" noChangeArrowheads="1" noChangeShapeType="1" noTextEdit="1"/>
              </p:cNvSpPr>
              <p:nvPr/>
            </p:nvSpPr>
            <p:spPr>
              <a:xfrm>
                <a:off x="1411110" y="1120676"/>
                <a:ext cx="7890934" cy="4869666"/>
              </a:xfrm>
              <a:prstGeom prst="rect">
                <a:avLst/>
              </a:prstGeom>
              <a:blipFill>
                <a:blip r:embed="rId2"/>
                <a:stretch>
                  <a:fillRect l="-618" t="-751" r="-618" b="-10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6659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39E27E6-D7C7-4805-A8A6-3FEDB11D87A5}"/>
              </a:ext>
            </a:extLst>
          </p:cNvPr>
          <p:cNvSpPr txBox="1"/>
          <p:nvPr/>
        </p:nvSpPr>
        <p:spPr>
          <a:xfrm>
            <a:off x="474132" y="462845"/>
            <a:ext cx="1580445" cy="461665"/>
          </a:xfrm>
          <a:prstGeom prst="rect">
            <a:avLst/>
          </a:prstGeom>
          <a:noFill/>
        </p:spPr>
        <p:txBody>
          <a:bodyPr wrap="square" rtlCol="0">
            <a:spAutoFit/>
          </a:bodyPr>
          <a:lstStyle/>
          <a:p>
            <a:r>
              <a:rPr lang="zh-CN" altLang="en-US" sz="2400" dirty="0"/>
              <a:t>性能度量</a:t>
            </a:r>
          </a:p>
        </p:txBody>
      </p:sp>
      <p:sp>
        <p:nvSpPr>
          <p:cNvPr id="5" name="文本框 4">
            <a:extLst>
              <a:ext uri="{FF2B5EF4-FFF2-40B4-BE49-F238E27FC236}">
                <a16:creationId xmlns:a16="http://schemas.microsoft.com/office/drawing/2014/main" id="{7BBE0754-1F67-42AA-A1CC-3D8EA5D2EE0A}"/>
              </a:ext>
            </a:extLst>
          </p:cNvPr>
          <p:cNvSpPr txBox="1"/>
          <p:nvPr/>
        </p:nvSpPr>
        <p:spPr>
          <a:xfrm>
            <a:off x="1525410" y="1158776"/>
            <a:ext cx="7890934" cy="4247317"/>
          </a:xfrm>
          <a:prstGeom prst="rect">
            <a:avLst/>
          </a:prstGeom>
          <a:noFill/>
        </p:spPr>
        <p:txBody>
          <a:bodyPr wrap="square" rtlCol="0">
            <a:spAutoFit/>
          </a:bodyPr>
          <a:lstStyle/>
          <a:p>
            <a:r>
              <a:rPr lang="en-US" altLang="zh-CN" dirty="0"/>
              <a:t>1</a:t>
            </a:r>
            <a:r>
              <a:rPr lang="zh-CN" altLang="en-US" dirty="0"/>
              <a:t>：错误率和精度</a:t>
            </a:r>
            <a:endParaRPr lang="en-US" altLang="zh-CN" dirty="0"/>
          </a:p>
          <a:p>
            <a:endParaRPr lang="en-US" altLang="zh-CN" dirty="0"/>
          </a:p>
          <a:p>
            <a:r>
              <a:rPr lang="zh-CN" altLang="en-US" dirty="0"/>
              <a:t>这是两种常见的性能度量，也适用于多分类任务，错误率是分类错误的样本数占样本总数的比例，精度则是分类正确的样本占总数的比例</a:t>
            </a:r>
            <a:endParaRPr lang="en-US" altLang="zh-CN" dirty="0"/>
          </a:p>
          <a:p>
            <a:endParaRPr lang="en-US" altLang="zh-CN" dirty="0"/>
          </a:p>
          <a:p>
            <a:r>
              <a:rPr lang="en-US" altLang="zh-CN" dirty="0"/>
              <a:t>2</a:t>
            </a:r>
            <a:r>
              <a:rPr lang="zh-CN" altLang="en-US" dirty="0"/>
              <a:t>：混淆矩阵</a:t>
            </a:r>
            <a:endParaRPr lang="en-US" altLang="zh-CN" dirty="0"/>
          </a:p>
          <a:p>
            <a:endParaRPr lang="en-US" altLang="zh-CN" dirty="0"/>
          </a:p>
          <a:p>
            <a:r>
              <a:rPr lang="zh-CN" altLang="en-US" dirty="0"/>
              <a:t>在机器学习中尤其是统计分类中，混淆矩阵（</a:t>
            </a:r>
            <a:r>
              <a:rPr lang="en-US" altLang="zh-CN" dirty="0"/>
              <a:t>confusion matrix</a:t>
            </a:r>
            <a:r>
              <a:rPr lang="zh-CN" altLang="en-US" dirty="0"/>
              <a:t>），也被称为错误矩阵（</a:t>
            </a:r>
            <a:r>
              <a:rPr lang="en-US" altLang="zh-CN" dirty="0"/>
              <a:t>error matrix</a:t>
            </a:r>
            <a:r>
              <a:rPr lang="zh-CN" altLang="en-US" dirty="0"/>
              <a:t>）。</a:t>
            </a:r>
          </a:p>
          <a:p>
            <a:r>
              <a:rPr lang="zh-CN" altLang="en-US" dirty="0"/>
              <a:t>矩阵的每一列表达了分类器对于样本的类别预测，二矩阵的每一行则表达了版本所属的真实类别</a:t>
            </a:r>
            <a:endParaRPr lang="en-US" altLang="zh-CN" dirty="0"/>
          </a:p>
          <a:p>
            <a:endParaRPr lang="zh-CN" altLang="en-US" dirty="0"/>
          </a:p>
          <a:p>
            <a:endParaRPr lang="en-US" altLang="zh-CN" dirty="0"/>
          </a:p>
          <a:p>
            <a:r>
              <a:rPr lang="en-US" altLang="zh-CN" dirty="0"/>
              <a:t>3</a:t>
            </a:r>
            <a:r>
              <a:rPr lang="zh-CN" altLang="en-US" dirty="0"/>
              <a:t>：</a:t>
            </a:r>
            <a:r>
              <a:rPr lang="en-US" altLang="zh-CN" dirty="0"/>
              <a:t>ROC</a:t>
            </a:r>
            <a:r>
              <a:rPr lang="zh-CN" altLang="en-US" dirty="0"/>
              <a:t>曲线和</a:t>
            </a:r>
            <a:r>
              <a:rPr lang="en-US" altLang="zh-CN" dirty="0"/>
              <a:t>AUC</a:t>
            </a:r>
            <a:r>
              <a:rPr lang="zh-CN" altLang="en-US" dirty="0"/>
              <a:t>曲线</a:t>
            </a:r>
            <a:endParaRPr lang="en-US" altLang="zh-CN" dirty="0"/>
          </a:p>
          <a:p>
            <a:endParaRPr lang="en-US" altLang="zh-CN" dirty="0"/>
          </a:p>
        </p:txBody>
      </p:sp>
      <p:pic>
        <p:nvPicPr>
          <p:cNvPr id="7" name="图片 6">
            <a:extLst>
              <a:ext uri="{FF2B5EF4-FFF2-40B4-BE49-F238E27FC236}">
                <a16:creationId xmlns:a16="http://schemas.microsoft.com/office/drawing/2014/main" id="{3513090D-8D5A-47B0-83EF-5B47A3AAABD1}"/>
              </a:ext>
            </a:extLst>
          </p:cNvPr>
          <p:cNvPicPr>
            <a:picLocks noChangeAspect="1"/>
          </p:cNvPicPr>
          <p:nvPr/>
        </p:nvPicPr>
        <p:blipFill>
          <a:blip r:embed="rId2"/>
          <a:stretch>
            <a:fillRect/>
          </a:stretch>
        </p:blipFill>
        <p:spPr>
          <a:xfrm>
            <a:off x="7652084" y="4230560"/>
            <a:ext cx="3986390" cy="1676400"/>
          </a:xfrm>
          <a:prstGeom prst="rect">
            <a:avLst/>
          </a:prstGeom>
        </p:spPr>
      </p:pic>
    </p:spTree>
    <p:extLst>
      <p:ext uri="{BB962C8B-B14F-4D97-AF65-F5344CB8AC3E}">
        <p14:creationId xmlns:p14="http://schemas.microsoft.com/office/powerpoint/2010/main" val="3273648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E84D18B-B714-417A-B48D-05E304178FD8}"/>
              </a:ext>
            </a:extLst>
          </p:cNvPr>
          <p:cNvSpPr txBox="1"/>
          <p:nvPr/>
        </p:nvSpPr>
        <p:spPr>
          <a:xfrm>
            <a:off x="167202" y="614267"/>
            <a:ext cx="3368842" cy="646331"/>
          </a:xfrm>
          <a:prstGeom prst="rect">
            <a:avLst/>
          </a:prstGeom>
          <a:noFill/>
        </p:spPr>
        <p:txBody>
          <a:bodyPr wrap="square" rtlCol="0">
            <a:spAutoFit/>
          </a:bodyPr>
          <a:lstStyle/>
          <a:p>
            <a:r>
              <a:rPr lang="zh-CN" altLang="en-US" dirty="0"/>
              <a:t>技术路线总结：</a:t>
            </a:r>
            <a:endParaRPr lang="en-US" altLang="zh-CN" dirty="0"/>
          </a:p>
          <a:p>
            <a:endParaRPr lang="en-US" altLang="zh-CN" dirty="0"/>
          </a:p>
        </p:txBody>
      </p:sp>
      <p:sp>
        <p:nvSpPr>
          <p:cNvPr id="7" name="矩形 6">
            <a:extLst>
              <a:ext uri="{FF2B5EF4-FFF2-40B4-BE49-F238E27FC236}">
                <a16:creationId xmlns:a16="http://schemas.microsoft.com/office/drawing/2014/main" id="{C85CD250-E32B-4134-870D-12273248AB11}"/>
              </a:ext>
            </a:extLst>
          </p:cNvPr>
          <p:cNvSpPr/>
          <p:nvPr/>
        </p:nvSpPr>
        <p:spPr>
          <a:xfrm>
            <a:off x="381751" y="3153960"/>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C3D149C-CF22-41DF-AA2E-F97DE79814EA}"/>
              </a:ext>
            </a:extLst>
          </p:cNvPr>
          <p:cNvSpPr txBox="1"/>
          <p:nvPr/>
        </p:nvSpPr>
        <p:spPr>
          <a:xfrm>
            <a:off x="381751" y="3292460"/>
            <a:ext cx="1126958" cy="369332"/>
          </a:xfrm>
          <a:prstGeom prst="rect">
            <a:avLst/>
          </a:prstGeom>
          <a:noFill/>
        </p:spPr>
        <p:txBody>
          <a:bodyPr wrap="square" rtlCol="0">
            <a:spAutoFit/>
          </a:bodyPr>
          <a:lstStyle/>
          <a:p>
            <a:r>
              <a:rPr lang="zh-CN" altLang="en-US" dirty="0"/>
              <a:t>原始数据</a:t>
            </a:r>
          </a:p>
        </p:txBody>
      </p:sp>
      <p:sp>
        <p:nvSpPr>
          <p:cNvPr id="9" name="矩形 8">
            <a:extLst>
              <a:ext uri="{FF2B5EF4-FFF2-40B4-BE49-F238E27FC236}">
                <a16:creationId xmlns:a16="http://schemas.microsoft.com/office/drawing/2014/main" id="{6AEC4F9B-C1D1-4010-92E8-824182056B78}"/>
              </a:ext>
            </a:extLst>
          </p:cNvPr>
          <p:cNvSpPr/>
          <p:nvPr/>
        </p:nvSpPr>
        <p:spPr>
          <a:xfrm>
            <a:off x="2824161" y="477889"/>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1FA81B8-A424-426B-8FF3-9F83FD8757A2}"/>
              </a:ext>
            </a:extLst>
          </p:cNvPr>
          <p:cNvSpPr txBox="1"/>
          <p:nvPr/>
        </p:nvSpPr>
        <p:spPr>
          <a:xfrm>
            <a:off x="2824161" y="616389"/>
            <a:ext cx="1126958" cy="369332"/>
          </a:xfrm>
          <a:prstGeom prst="rect">
            <a:avLst/>
          </a:prstGeom>
          <a:noFill/>
        </p:spPr>
        <p:txBody>
          <a:bodyPr wrap="square" rtlCol="0">
            <a:spAutoFit/>
          </a:bodyPr>
          <a:lstStyle/>
          <a:p>
            <a:r>
              <a:rPr lang="zh-CN" altLang="en-US" dirty="0"/>
              <a:t>训练数据</a:t>
            </a:r>
          </a:p>
        </p:txBody>
      </p:sp>
      <p:sp>
        <p:nvSpPr>
          <p:cNvPr id="11" name="矩形 10">
            <a:extLst>
              <a:ext uri="{FF2B5EF4-FFF2-40B4-BE49-F238E27FC236}">
                <a16:creationId xmlns:a16="http://schemas.microsoft.com/office/drawing/2014/main" id="{3A56E1B9-3CA2-417D-B554-2E7E74E28A2D}"/>
              </a:ext>
            </a:extLst>
          </p:cNvPr>
          <p:cNvSpPr/>
          <p:nvPr/>
        </p:nvSpPr>
        <p:spPr>
          <a:xfrm>
            <a:off x="2782051" y="5879905"/>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4E05602-DBF9-4127-9BD6-2959A9435BDC}"/>
              </a:ext>
            </a:extLst>
          </p:cNvPr>
          <p:cNvSpPr txBox="1"/>
          <p:nvPr/>
        </p:nvSpPr>
        <p:spPr>
          <a:xfrm>
            <a:off x="2824161" y="6027003"/>
            <a:ext cx="1126958" cy="369332"/>
          </a:xfrm>
          <a:prstGeom prst="rect">
            <a:avLst/>
          </a:prstGeom>
          <a:noFill/>
        </p:spPr>
        <p:txBody>
          <a:bodyPr wrap="square" rtlCol="0">
            <a:spAutoFit/>
          </a:bodyPr>
          <a:lstStyle/>
          <a:p>
            <a:r>
              <a:rPr lang="zh-CN" altLang="en-US" dirty="0"/>
              <a:t>测试数据</a:t>
            </a:r>
          </a:p>
        </p:txBody>
      </p:sp>
      <p:cxnSp>
        <p:nvCxnSpPr>
          <p:cNvPr id="14" name="连接符: 肘形 13">
            <a:extLst>
              <a:ext uri="{FF2B5EF4-FFF2-40B4-BE49-F238E27FC236}">
                <a16:creationId xmlns:a16="http://schemas.microsoft.com/office/drawing/2014/main" id="{0D8209DE-4D8F-4FA7-8FF9-3FD8C4433D8F}"/>
              </a:ext>
            </a:extLst>
          </p:cNvPr>
          <p:cNvCxnSpPr>
            <a:cxnSpLocks/>
            <a:stCxn id="8" idx="3"/>
            <a:endCxn id="12" idx="1"/>
          </p:cNvCxnSpPr>
          <p:nvPr/>
        </p:nvCxnSpPr>
        <p:spPr>
          <a:xfrm>
            <a:off x="1508709" y="3477126"/>
            <a:ext cx="1315452" cy="273454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3AC8F803-E21F-4951-B37D-76A9C0DCFD13}"/>
              </a:ext>
            </a:extLst>
          </p:cNvPr>
          <p:cNvCxnSpPr>
            <a:cxnSpLocks/>
            <a:stCxn id="8" idx="3"/>
            <a:endCxn id="9" idx="1"/>
          </p:cNvCxnSpPr>
          <p:nvPr/>
        </p:nvCxnSpPr>
        <p:spPr>
          <a:xfrm flipV="1">
            <a:off x="1508709" y="801055"/>
            <a:ext cx="1315452" cy="26760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0A48849B-A033-4ED0-9DDD-E2E8063E2975}"/>
              </a:ext>
            </a:extLst>
          </p:cNvPr>
          <p:cNvSpPr txBox="1"/>
          <p:nvPr/>
        </p:nvSpPr>
        <p:spPr>
          <a:xfrm>
            <a:off x="1471104" y="3171611"/>
            <a:ext cx="1455821" cy="261610"/>
          </a:xfrm>
          <a:prstGeom prst="rect">
            <a:avLst/>
          </a:prstGeom>
          <a:noFill/>
        </p:spPr>
        <p:txBody>
          <a:bodyPr wrap="square" rtlCol="0">
            <a:spAutoFit/>
          </a:bodyPr>
          <a:lstStyle/>
          <a:p>
            <a:r>
              <a:rPr lang="zh-CN" altLang="en-US" sz="1100" dirty="0"/>
              <a:t>自助法分割</a:t>
            </a:r>
          </a:p>
        </p:txBody>
      </p:sp>
      <p:sp>
        <p:nvSpPr>
          <p:cNvPr id="25" name="矩形 24">
            <a:extLst>
              <a:ext uri="{FF2B5EF4-FFF2-40B4-BE49-F238E27FC236}">
                <a16:creationId xmlns:a16="http://schemas.microsoft.com/office/drawing/2014/main" id="{4B65B6F5-A5AB-4AAF-A9AA-8E3F02C4E60B}"/>
              </a:ext>
            </a:extLst>
          </p:cNvPr>
          <p:cNvSpPr/>
          <p:nvPr/>
        </p:nvSpPr>
        <p:spPr>
          <a:xfrm>
            <a:off x="4314072" y="477889"/>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7C4156C-BD00-4D6A-A4AE-D38AD22F978B}"/>
              </a:ext>
            </a:extLst>
          </p:cNvPr>
          <p:cNvSpPr txBox="1"/>
          <p:nvPr/>
        </p:nvSpPr>
        <p:spPr>
          <a:xfrm>
            <a:off x="4467475" y="614267"/>
            <a:ext cx="1126958" cy="369332"/>
          </a:xfrm>
          <a:prstGeom prst="rect">
            <a:avLst/>
          </a:prstGeom>
          <a:noFill/>
        </p:spPr>
        <p:txBody>
          <a:bodyPr wrap="square" rtlCol="0">
            <a:spAutoFit/>
          </a:bodyPr>
          <a:lstStyle/>
          <a:p>
            <a:r>
              <a:rPr lang="zh-CN" altLang="en-US" dirty="0"/>
              <a:t>预处理</a:t>
            </a:r>
          </a:p>
        </p:txBody>
      </p:sp>
      <p:sp>
        <p:nvSpPr>
          <p:cNvPr id="30" name="矩形 29">
            <a:extLst>
              <a:ext uri="{FF2B5EF4-FFF2-40B4-BE49-F238E27FC236}">
                <a16:creationId xmlns:a16="http://schemas.microsoft.com/office/drawing/2014/main" id="{B1AE0177-49CD-41D9-9E8F-7C1BA75CCACC}"/>
              </a:ext>
            </a:extLst>
          </p:cNvPr>
          <p:cNvSpPr/>
          <p:nvPr/>
        </p:nvSpPr>
        <p:spPr>
          <a:xfrm>
            <a:off x="8045363" y="462484"/>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945E5FE4-CB83-4699-88F1-4E6F9589BEB3}"/>
              </a:ext>
            </a:extLst>
          </p:cNvPr>
          <p:cNvSpPr txBox="1"/>
          <p:nvPr/>
        </p:nvSpPr>
        <p:spPr>
          <a:xfrm>
            <a:off x="8045363" y="600984"/>
            <a:ext cx="1126958" cy="369332"/>
          </a:xfrm>
          <a:prstGeom prst="rect">
            <a:avLst/>
          </a:prstGeom>
          <a:noFill/>
        </p:spPr>
        <p:txBody>
          <a:bodyPr wrap="square" rtlCol="0">
            <a:spAutoFit/>
          </a:bodyPr>
          <a:lstStyle/>
          <a:p>
            <a:r>
              <a:rPr lang="zh-CN" altLang="en-US" dirty="0"/>
              <a:t>特征提取</a:t>
            </a:r>
          </a:p>
        </p:txBody>
      </p:sp>
      <p:cxnSp>
        <p:nvCxnSpPr>
          <p:cNvPr id="33" name="直接箭头连接符 32">
            <a:extLst>
              <a:ext uri="{FF2B5EF4-FFF2-40B4-BE49-F238E27FC236}">
                <a16:creationId xmlns:a16="http://schemas.microsoft.com/office/drawing/2014/main" id="{1877836F-47A2-496A-B039-17366B8F7D7C}"/>
              </a:ext>
            </a:extLst>
          </p:cNvPr>
          <p:cNvCxnSpPr>
            <a:stCxn id="10" idx="3"/>
            <a:endCxn id="25" idx="1"/>
          </p:cNvCxnSpPr>
          <p:nvPr/>
        </p:nvCxnSpPr>
        <p:spPr>
          <a:xfrm>
            <a:off x="3951119" y="801055"/>
            <a:ext cx="3629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BCBC4C83-F788-46D4-99BE-A4FE05428788}"/>
              </a:ext>
            </a:extLst>
          </p:cNvPr>
          <p:cNvCxnSpPr>
            <a:cxnSpLocks/>
            <a:stCxn id="25" idx="2"/>
            <a:endCxn id="46" idx="0"/>
          </p:cNvCxnSpPr>
          <p:nvPr/>
        </p:nvCxnSpPr>
        <p:spPr>
          <a:xfrm>
            <a:off x="4877551" y="1124220"/>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B94752B1-5FFE-4A8A-AC06-7AE3DC428059}"/>
              </a:ext>
            </a:extLst>
          </p:cNvPr>
          <p:cNvSpPr/>
          <p:nvPr/>
        </p:nvSpPr>
        <p:spPr>
          <a:xfrm>
            <a:off x="4509585" y="1478279"/>
            <a:ext cx="735931" cy="37397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5EBBE201-2157-4F42-B9DA-C20A2492B4B5}"/>
              </a:ext>
            </a:extLst>
          </p:cNvPr>
          <p:cNvSpPr txBox="1"/>
          <p:nvPr/>
        </p:nvSpPr>
        <p:spPr>
          <a:xfrm>
            <a:off x="4467475" y="1529296"/>
            <a:ext cx="735931" cy="307777"/>
          </a:xfrm>
          <a:prstGeom prst="rect">
            <a:avLst/>
          </a:prstGeom>
          <a:noFill/>
        </p:spPr>
        <p:txBody>
          <a:bodyPr wrap="square" rtlCol="0">
            <a:spAutoFit/>
          </a:bodyPr>
          <a:lstStyle/>
          <a:p>
            <a:r>
              <a:rPr lang="zh-CN" altLang="en-US" sz="1400" dirty="0"/>
              <a:t>灰度化</a:t>
            </a:r>
          </a:p>
        </p:txBody>
      </p:sp>
      <p:sp>
        <p:nvSpPr>
          <p:cNvPr id="53" name="矩形 52">
            <a:extLst>
              <a:ext uri="{FF2B5EF4-FFF2-40B4-BE49-F238E27FC236}">
                <a16:creationId xmlns:a16="http://schemas.microsoft.com/office/drawing/2014/main" id="{D1A8FD4B-631C-4C49-9218-B2CDA2B298BE}"/>
              </a:ext>
            </a:extLst>
          </p:cNvPr>
          <p:cNvSpPr/>
          <p:nvPr/>
        </p:nvSpPr>
        <p:spPr>
          <a:xfrm>
            <a:off x="4240883" y="2091912"/>
            <a:ext cx="1273336" cy="40849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243392D6-2CD9-4C0A-A380-199FF6E6E536}"/>
              </a:ext>
            </a:extLst>
          </p:cNvPr>
          <p:cNvSpPr txBox="1"/>
          <p:nvPr/>
        </p:nvSpPr>
        <p:spPr>
          <a:xfrm>
            <a:off x="4198773" y="2177441"/>
            <a:ext cx="1315447" cy="307777"/>
          </a:xfrm>
          <a:prstGeom prst="rect">
            <a:avLst/>
          </a:prstGeom>
          <a:noFill/>
        </p:spPr>
        <p:txBody>
          <a:bodyPr wrap="square" rtlCol="0">
            <a:spAutoFit/>
          </a:bodyPr>
          <a:lstStyle/>
          <a:p>
            <a:r>
              <a:rPr lang="en-US" altLang="zh-CN" sz="1400" dirty="0"/>
              <a:t>Gamma</a:t>
            </a:r>
            <a:r>
              <a:rPr lang="zh-CN" altLang="en-US" sz="1400" dirty="0"/>
              <a:t>校正化</a:t>
            </a:r>
          </a:p>
        </p:txBody>
      </p:sp>
      <p:sp>
        <p:nvSpPr>
          <p:cNvPr id="55" name="矩形 54">
            <a:extLst>
              <a:ext uri="{FF2B5EF4-FFF2-40B4-BE49-F238E27FC236}">
                <a16:creationId xmlns:a16="http://schemas.microsoft.com/office/drawing/2014/main" id="{EB26C5DC-8ACC-4FC6-9876-5C4FEC38747A}"/>
              </a:ext>
            </a:extLst>
          </p:cNvPr>
          <p:cNvSpPr/>
          <p:nvPr/>
        </p:nvSpPr>
        <p:spPr>
          <a:xfrm>
            <a:off x="4551695" y="2885831"/>
            <a:ext cx="735931" cy="37397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22E02FC4-FC8D-47AC-BC6A-488F1A4E1136}"/>
              </a:ext>
            </a:extLst>
          </p:cNvPr>
          <p:cNvSpPr txBox="1"/>
          <p:nvPr/>
        </p:nvSpPr>
        <p:spPr>
          <a:xfrm>
            <a:off x="4509585" y="2936848"/>
            <a:ext cx="735931" cy="307777"/>
          </a:xfrm>
          <a:prstGeom prst="rect">
            <a:avLst/>
          </a:prstGeom>
          <a:noFill/>
        </p:spPr>
        <p:txBody>
          <a:bodyPr wrap="square" rtlCol="0">
            <a:spAutoFit/>
          </a:bodyPr>
          <a:lstStyle/>
          <a:p>
            <a:r>
              <a:rPr lang="zh-CN" altLang="en-US" sz="1400" dirty="0"/>
              <a:t>二值化</a:t>
            </a:r>
          </a:p>
        </p:txBody>
      </p:sp>
      <p:cxnSp>
        <p:nvCxnSpPr>
          <p:cNvPr id="58" name="直接箭头连接符 57">
            <a:extLst>
              <a:ext uri="{FF2B5EF4-FFF2-40B4-BE49-F238E27FC236}">
                <a16:creationId xmlns:a16="http://schemas.microsoft.com/office/drawing/2014/main" id="{EC0B7824-358E-4F81-A387-77D6798E080C}"/>
              </a:ext>
            </a:extLst>
          </p:cNvPr>
          <p:cNvCxnSpPr>
            <a:cxnSpLocks/>
          </p:cNvCxnSpPr>
          <p:nvPr/>
        </p:nvCxnSpPr>
        <p:spPr>
          <a:xfrm>
            <a:off x="4877551" y="1784135"/>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B2DF9921-F05D-4EAE-BEC3-D1B4280FF054}"/>
              </a:ext>
            </a:extLst>
          </p:cNvPr>
          <p:cNvCxnSpPr>
            <a:cxnSpLocks/>
          </p:cNvCxnSpPr>
          <p:nvPr/>
        </p:nvCxnSpPr>
        <p:spPr>
          <a:xfrm>
            <a:off x="4877551" y="2500403"/>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44AAA1D0-54A4-4869-B90E-05C21A85EA8E}"/>
              </a:ext>
            </a:extLst>
          </p:cNvPr>
          <p:cNvSpPr/>
          <p:nvPr/>
        </p:nvSpPr>
        <p:spPr>
          <a:xfrm>
            <a:off x="4393286" y="3696806"/>
            <a:ext cx="1027697"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6D7BF231-320E-46BF-AE0C-30B118151C82}"/>
              </a:ext>
            </a:extLst>
          </p:cNvPr>
          <p:cNvSpPr txBox="1"/>
          <p:nvPr/>
        </p:nvSpPr>
        <p:spPr>
          <a:xfrm>
            <a:off x="4351176" y="3727903"/>
            <a:ext cx="1273336" cy="307777"/>
          </a:xfrm>
          <a:prstGeom prst="rect">
            <a:avLst/>
          </a:prstGeom>
          <a:noFill/>
        </p:spPr>
        <p:txBody>
          <a:bodyPr wrap="square" rtlCol="0">
            <a:spAutoFit/>
          </a:bodyPr>
          <a:lstStyle/>
          <a:p>
            <a:r>
              <a:rPr lang="zh-CN" altLang="en-US" sz="1400" dirty="0"/>
              <a:t>形态学处理</a:t>
            </a:r>
          </a:p>
        </p:txBody>
      </p:sp>
      <p:cxnSp>
        <p:nvCxnSpPr>
          <p:cNvPr id="63" name="直接箭头连接符 62">
            <a:extLst>
              <a:ext uri="{FF2B5EF4-FFF2-40B4-BE49-F238E27FC236}">
                <a16:creationId xmlns:a16="http://schemas.microsoft.com/office/drawing/2014/main" id="{C3B5FF0D-F950-42E9-BAD5-3071C5710A43}"/>
              </a:ext>
            </a:extLst>
          </p:cNvPr>
          <p:cNvCxnSpPr>
            <a:cxnSpLocks/>
          </p:cNvCxnSpPr>
          <p:nvPr/>
        </p:nvCxnSpPr>
        <p:spPr>
          <a:xfrm>
            <a:off x="4892590" y="3304370"/>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1885EA08-8A7E-4FE8-B613-079675BABECE}"/>
              </a:ext>
            </a:extLst>
          </p:cNvPr>
          <p:cNvCxnSpPr>
            <a:cxnSpLocks/>
            <a:endCxn id="31" idx="1"/>
          </p:cNvCxnSpPr>
          <p:nvPr/>
        </p:nvCxnSpPr>
        <p:spPr>
          <a:xfrm flipV="1">
            <a:off x="5441030" y="785650"/>
            <a:ext cx="2604333" cy="15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矩形 65">
            <a:extLst>
              <a:ext uri="{FF2B5EF4-FFF2-40B4-BE49-F238E27FC236}">
                <a16:creationId xmlns:a16="http://schemas.microsoft.com/office/drawing/2014/main" id="{4F352C01-5DB9-4728-A6CA-6619CEDC8592}"/>
              </a:ext>
            </a:extLst>
          </p:cNvPr>
          <p:cNvSpPr/>
          <p:nvPr/>
        </p:nvSpPr>
        <p:spPr>
          <a:xfrm>
            <a:off x="5850089" y="1781627"/>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C3984074-8D15-4A35-B2A1-B4578FC10D46}"/>
              </a:ext>
            </a:extLst>
          </p:cNvPr>
          <p:cNvSpPr txBox="1"/>
          <p:nvPr/>
        </p:nvSpPr>
        <p:spPr>
          <a:xfrm>
            <a:off x="5850089" y="1920127"/>
            <a:ext cx="1126958" cy="369332"/>
          </a:xfrm>
          <a:prstGeom prst="rect">
            <a:avLst/>
          </a:prstGeom>
          <a:noFill/>
        </p:spPr>
        <p:txBody>
          <a:bodyPr wrap="square" rtlCol="0">
            <a:spAutoFit/>
          </a:bodyPr>
          <a:lstStyle/>
          <a:p>
            <a:r>
              <a:rPr lang="zh-CN" altLang="en-US" dirty="0"/>
              <a:t>形状特征</a:t>
            </a:r>
          </a:p>
        </p:txBody>
      </p:sp>
      <p:sp>
        <p:nvSpPr>
          <p:cNvPr id="68" name="矩形 67">
            <a:extLst>
              <a:ext uri="{FF2B5EF4-FFF2-40B4-BE49-F238E27FC236}">
                <a16:creationId xmlns:a16="http://schemas.microsoft.com/office/drawing/2014/main" id="{3FFABF6C-04DF-4342-B23E-4B4BE63E5882}"/>
              </a:ext>
            </a:extLst>
          </p:cNvPr>
          <p:cNvSpPr/>
          <p:nvPr/>
        </p:nvSpPr>
        <p:spPr>
          <a:xfrm>
            <a:off x="8045362" y="1785188"/>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a:extLst>
              <a:ext uri="{FF2B5EF4-FFF2-40B4-BE49-F238E27FC236}">
                <a16:creationId xmlns:a16="http://schemas.microsoft.com/office/drawing/2014/main" id="{03BDF227-054A-4963-98D7-63915CC7DFB7}"/>
              </a:ext>
            </a:extLst>
          </p:cNvPr>
          <p:cNvSpPr txBox="1"/>
          <p:nvPr/>
        </p:nvSpPr>
        <p:spPr>
          <a:xfrm>
            <a:off x="8045362" y="1923688"/>
            <a:ext cx="1126958" cy="369332"/>
          </a:xfrm>
          <a:prstGeom prst="rect">
            <a:avLst/>
          </a:prstGeom>
          <a:noFill/>
        </p:spPr>
        <p:txBody>
          <a:bodyPr wrap="square" rtlCol="0">
            <a:spAutoFit/>
          </a:bodyPr>
          <a:lstStyle/>
          <a:p>
            <a:r>
              <a:rPr lang="zh-CN" altLang="en-US" dirty="0"/>
              <a:t>纹理特征</a:t>
            </a:r>
          </a:p>
        </p:txBody>
      </p:sp>
      <p:sp>
        <p:nvSpPr>
          <p:cNvPr id="70" name="矩形 69">
            <a:extLst>
              <a:ext uri="{FF2B5EF4-FFF2-40B4-BE49-F238E27FC236}">
                <a16:creationId xmlns:a16="http://schemas.microsoft.com/office/drawing/2014/main" id="{0C5148F9-8B25-4B48-A664-E6289F643FB3}"/>
              </a:ext>
            </a:extLst>
          </p:cNvPr>
          <p:cNvSpPr/>
          <p:nvPr/>
        </p:nvSpPr>
        <p:spPr>
          <a:xfrm>
            <a:off x="10804114" y="1768746"/>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5E84A685-9532-4E91-A7CE-5F93174E99DC}"/>
              </a:ext>
            </a:extLst>
          </p:cNvPr>
          <p:cNvSpPr txBox="1"/>
          <p:nvPr/>
        </p:nvSpPr>
        <p:spPr>
          <a:xfrm>
            <a:off x="10804114" y="1907246"/>
            <a:ext cx="1126958" cy="369332"/>
          </a:xfrm>
          <a:prstGeom prst="rect">
            <a:avLst/>
          </a:prstGeom>
          <a:noFill/>
        </p:spPr>
        <p:txBody>
          <a:bodyPr wrap="square" rtlCol="0">
            <a:spAutoFit/>
          </a:bodyPr>
          <a:lstStyle/>
          <a:p>
            <a:r>
              <a:rPr lang="zh-CN" altLang="en-US" dirty="0"/>
              <a:t>叶脉特征</a:t>
            </a:r>
          </a:p>
        </p:txBody>
      </p:sp>
      <p:cxnSp>
        <p:nvCxnSpPr>
          <p:cNvPr id="73" name="连接符: 肘形 72">
            <a:extLst>
              <a:ext uri="{FF2B5EF4-FFF2-40B4-BE49-F238E27FC236}">
                <a16:creationId xmlns:a16="http://schemas.microsoft.com/office/drawing/2014/main" id="{D3519EE9-A909-49F6-AE47-1F2CD7F99F58}"/>
              </a:ext>
            </a:extLst>
          </p:cNvPr>
          <p:cNvCxnSpPr>
            <a:stCxn id="30" idx="2"/>
            <a:endCxn id="66" idx="0"/>
          </p:cNvCxnSpPr>
          <p:nvPr/>
        </p:nvCxnSpPr>
        <p:spPr>
          <a:xfrm rot="5400000">
            <a:off x="7174799" y="347584"/>
            <a:ext cx="672812" cy="21952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连接符: 肘形 73">
            <a:extLst>
              <a:ext uri="{FF2B5EF4-FFF2-40B4-BE49-F238E27FC236}">
                <a16:creationId xmlns:a16="http://schemas.microsoft.com/office/drawing/2014/main" id="{C20A1806-4FC4-48DC-8756-7EEB99134825}"/>
              </a:ext>
            </a:extLst>
          </p:cNvPr>
          <p:cNvCxnSpPr>
            <a:cxnSpLocks/>
            <a:stCxn id="30" idx="2"/>
            <a:endCxn id="68" idx="0"/>
          </p:cNvCxnSpPr>
          <p:nvPr/>
        </p:nvCxnSpPr>
        <p:spPr>
          <a:xfrm rot="5400000">
            <a:off x="8270656" y="1447001"/>
            <a:ext cx="676373"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连接符: 肘形 76">
            <a:extLst>
              <a:ext uri="{FF2B5EF4-FFF2-40B4-BE49-F238E27FC236}">
                <a16:creationId xmlns:a16="http://schemas.microsoft.com/office/drawing/2014/main" id="{042B7166-FAED-4941-82EA-D5216808AFC9}"/>
              </a:ext>
            </a:extLst>
          </p:cNvPr>
          <p:cNvCxnSpPr>
            <a:cxnSpLocks/>
            <a:stCxn id="30" idx="2"/>
            <a:endCxn id="70" idx="0"/>
          </p:cNvCxnSpPr>
          <p:nvPr/>
        </p:nvCxnSpPr>
        <p:spPr>
          <a:xfrm rot="16200000" flipH="1">
            <a:off x="9658252" y="59404"/>
            <a:ext cx="659931" cy="27587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E97401A3-FBF5-4219-BB8A-81F249427342}"/>
              </a:ext>
            </a:extLst>
          </p:cNvPr>
          <p:cNvSpPr/>
          <p:nvPr/>
        </p:nvSpPr>
        <p:spPr>
          <a:xfrm>
            <a:off x="5712730" y="2805252"/>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FEF978CB-2C1A-46CF-9FA5-28AA0AD5A5D8}"/>
              </a:ext>
            </a:extLst>
          </p:cNvPr>
          <p:cNvSpPr txBox="1"/>
          <p:nvPr/>
        </p:nvSpPr>
        <p:spPr>
          <a:xfrm>
            <a:off x="5670619" y="2836349"/>
            <a:ext cx="1546055" cy="307777"/>
          </a:xfrm>
          <a:prstGeom prst="rect">
            <a:avLst/>
          </a:prstGeom>
          <a:noFill/>
        </p:spPr>
        <p:txBody>
          <a:bodyPr wrap="square" rtlCol="0">
            <a:spAutoFit/>
          </a:bodyPr>
          <a:lstStyle/>
          <a:p>
            <a:r>
              <a:rPr lang="zh-CN" altLang="en-US" sz="1400" dirty="0"/>
              <a:t> 方向梯度直方图</a:t>
            </a:r>
          </a:p>
        </p:txBody>
      </p:sp>
      <p:cxnSp>
        <p:nvCxnSpPr>
          <p:cNvPr id="86" name="直接箭头连接符 85">
            <a:extLst>
              <a:ext uri="{FF2B5EF4-FFF2-40B4-BE49-F238E27FC236}">
                <a16:creationId xmlns:a16="http://schemas.microsoft.com/office/drawing/2014/main" id="{C9D486EE-2164-47A2-A149-FCB7EB609912}"/>
              </a:ext>
            </a:extLst>
          </p:cNvPr>
          <p:cNvCxnSpPr>
            <a:cxnSpLocks/>
          </p:cNvCxnSpPr>
          <p:nvPr/>
        </p:nvCxnSpPr>
        <p:spPr>
          <a:xfrm>
            <a:off x="6397519" y="2451193"/>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03E9A5C6-E025-4167-91C6-943A4E660B89}"/>
              </a:ext>
            </a:extLst>
          </p:cNvPr>
          <p:cNvSpPr/>
          <p:nvPr/>
        </p:nvSpPr>
        <p:spPr>
          <a:xfrm>
            <a:off x="7901988" y="2795232"/>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C7AB4EF9-973F-4912-BCC9-D2BE5968B747}"/>
              </a:ext>
            </a:extLst>
          </p:cNvPr>
          <p:cNvSpPr txBox="1"/>
          <p:nvPr/>
        </p:nvSpPr>
        <p:spPr>
          <a:xfrm>
            <a:off x="7859877" y="2826329"/>
            <a:ext cx="1546055" cy="307777"/>
          </a:xfrm>
          <a:prstGeom prst="rect">
            <a:avLst/>
          </a:prstGeom>
          <a:noFill/>
        </p:spPr>
        <p:txBody>
          <a:bodyPr wrap="square" rtlCol="0">
            <a:spAutoFit/>
          </a:bodyPr>
          <a:lstStyle/>
          <a:p>
            <a:r>
              <a:rPr lang="zh-CN" altLang="en-US" sz="1400" dirty="0"/>
              <a:t>  灰度共生矩阵</a:t>
            </a:r>
          </a:p>
        </p:txBody>
      </p:sp>
      <p:cxnSp>
        <p:nvCxnSpPr>
          <p:cNvPr id="94" name="直接箭头连接符 93">
            <a:extLst>
              <a:ext uri="{FF2B5EF4-FFF2-40B4-BE49-F238E27FC236}">
                <a16:creationId xmlns:a16="http://schemas.microsoft.com/office/drawing/2014/main" id="{A0B3A589-5746-4F38-A027-7CE00B7DF945}"/>
              </a:ext>
            </a:extLst>
          </p:cNvPr>
          <p:cNvCxnSpPr>
            <a:cxnSpLocks/>
          </p:cNvCxnSpPr>
          <p:nvPr/>
        </p:nvCxnSpPr>
        <p:spPr>
          <a:xfrm>
            <a:off x="8586777" y="2441173"/>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矩形 94">
            <a:extLst>
              <a:ext uri="{FF2B5EF4-FFF2-40B4-BE49-F238E27FC236}">
                <a16:creationId xmlns:a16="http://schemas.microsoft.com/office/drawing/2014/main" id="{36A28190-D354-434D-A9F1-E1E4F44FEB10}"/>
              </a:ext>
            </a:extLst>
          </p:cNvPr>
          <p:cNvSpPr/>
          <p:nvPr/>
        </p:nvSpPr>
        <p:spPr>
          <a:xfrm>
            <a:off x="10664758" y="2786392"/>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079AD78F-E463-42DE-A4A9-B44B4492A252}"/>
              </a:ext>
            </a:extLst>
          </p:cNvPr>
          <p:cNvSpPr txBox="1"/>
          <p:nvPr/>
        </p:nvSpPr>
        <p:spPr>
          <a:xfrm>
            <a:off x="10622647" y="2817489"/>
            <a:ext cx="1546055" cy="307777"/>
          </a:xfrm>
          <a:prstGeom prst="rect">
            <a:avLst/>
          </a:prstGeom>
          <a:noFill/>
        </p:spPr>
        <p:txBody>
          <a:bodyPr wrap="square" rtlCol="0">
            <a:spAutoFit/>
          </a:bodyPr>
          <a:lstStyle/>
          <a:p>
            <a:r>
              <a:rPr lang="en-US" altLang="zh-CN" sz="1400" dirty="0"/>
              <a:t>     canny</a:t>
            </a:r>
            <a:r>
              <a:rPr lang="zh-CN" altLang="en-US" sz="1400" dirty="0"/>
              <a:t>算子</a:t>
            </a:r>
          </a:p>
        </p:txBody>
      </p:sp>
      <p:cxnSp>
        <p:nvCxnSpPr>
          <p:cNvPr id="97" name="直接箭头连接符 96">
            <a:extLst>
              <a:ext uri="{FF2B5EF4-FFF2-40B4-BE49-F238E27FC236}">
                <a16:creationId xmlns:a16="http://schemas.microsoft.com/office/drawing/2014/main" id="{4E3E10AF-3FE5-4592-B7B9-465AA0D4ECD3}"/>
              </a:ext>
            </a:extLst>
          </p:cNvPr>
          <p:cNvCxnSpPr>
            <a:cxnSpLocks/>
          </p:cNvCxnSpPr>
          <p:nvPr/>
        </p:nvCxnSpPr>
        <p:spPr>
          <a:xfrm>
            <a:off x="11349547" y="2432333"/>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矩形 98">
            <a:extLst>
              <a:ext uri="{FF2B5EF4-FFF2-40B4-BE49-F238E27FC236}">
                <a16:creationId xmlns:a16="http://schemas.microsoft.com/office/drawing/2014/main" id="{A0D9A2A6-8483-48F7-90A8-2729C3EE92D9}"/>
              </a:ext>
            </a:extLst>
          </p:cNvPr>
          <p:cNvSpPr/>
          <p:nvPr/>
        </p:nvSpPr>
        <p:spPr>
          <a:xfrm>
            <a:off x="10686803" y="3468515"/>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a:extLst>
              <a:ext uri="{FF2B5EF4-FFF2-40B4-BE49-F238E27FC236}">
                <a16:creationId xmlns:a16="http://schemas.microsoft.com/office/drawing/2014/main" id="{2336FFC3-F995-4715-960D-0674D0CAFD98}"/>
              </a:ext>
            </a:extLst>
          </p:cNvPr>
          <p:cNvSpPr txBox="1"/>
          <p:nvPr/>
        </p:nvSpPr>
        <p:spPr>
          <a:xfrm>
            <a:off x="10644692" y="3499612"/>
            <a:ext cx="1546055" cy="307777"/>
          </a:xfrm>
          <a:prstGeom prst="rect">
            <a:avLst/>
          </a:prstGeom>
          <a:noFill/>
        </p:spPr>
        <p:txBody>
          <a:bodyPr wrap="square" rtlCol="0">
            <a:spAutoFit/>
          </a:bodyPr>
          <a:lstStyle/>
          <a:p>
            <a:r>
              <a:rPr lang="zh-CN" altLang="en-US" sz="1400" dirty="0"/>
              <a:t>     霍夫变换</a:t>
            </a:r>
          </a:p>
        </p:txBody>
      </p:sp>
      <p:cxnSp>
        <p:nvCxnSpPr>
          <p:cNvPr id="101" name="直接箭头连接符 100">
            <a:extLst>
              <a:ext uri="{FF2B5EF4-FFF2-40B4-BE49-F238E27FC236}">
                <a16:creationId xmlns:a16="http://schemas.microsoft.com/office/drawing/2014/main" id="{3658F8FC-D4EF-428D-BC03-CFDBA65C3583}"/>
              </a:ext>
            </a:extLst>
          </p:cNvPr>
          <p:cNvCxnSpPr>
            <a:cxnSpLocks/>
          </p:cNvCxnSpPr>
          <p:nvPr/>
        </p:nvCxnSpPr>
        <p:spPr>
          <a:xfrm>
            <a:off x="11371592" y="3114456"/>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矩形 109">
            <a:extLst>
              <a:ext uri="{FF2B5EF4-FFF2-40B4-BE49-F238E27FC236}">
                <a16:creationId xmlns:a16="http://schemas.microsoft.com/office/drawing/2014/main" id="{87E6CF19-3ACC-4851-9BAB-1E3D7FEB8639}"/>
              </a:ext>
            </a:extLst>
          </p:cNvPr>
          <p:cNvSpPr/>
          <p:nvPr/>
        </p:nvSpPr>
        <p:spPr>
          <a:xfrm>
            <a:off x="5708733" y="3487993"/>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a:extLst>
              <a:ext uri="{FF2B5EF4-FFF2-40B4-BE49-F238E27FC236}">
                <a16:creationId xmlns:a16="http://schemas.microsoft.com/office/drawing/2014/main" id="{6F53541D-BB65-4758-AA13-36428D5FBF7B}"/>
              </a:ext>
            </a:extLst>
          </p:cNvPr>
          <p:cNvSpPr txBox="1"/>
          <p:nvPr/>
        </p:nvSpPr>
        <p:spPr>
          <a:xfrm>
            <a:off x="5666622" y="3519090"/>
            <a:ext cx="1546055" cy="307777"/>
          </a:xfrm>
          <a:prstGeom prst="rect">
            <a:avLst/>
          </a:prstGeom>
          <a:noFill/>
        </p:spPr>
        <p:txBody>
          <a:bodyPr wrap="square" rtlCol="0">
            <a:spAutoFit/>
          </a:bodyPr>
          <a:lstStyle/>
          <a:p>
            <a:r>
              <a:rPr lang="zh-CN" altLang="en-US" sz="1400" dirty="0"/>
              <a:t>     </a:t>
            </a:r>
            <a:r>
              <a:rPr lang="en-US" altLang="zh-CN" sz="1400" dirty="0"/>
              <a:t>8</a:t>
            </a:r>
            <a:r>
              <a:rPr lang="zh-CN" altLang="en-US" sz="1400" dirty="0"/>
              <a:t>个特征向量</a:t>
            </a:r>
          </a:p>
        </p:txBody>
      </p:sp>
      <p:cxnSp>
        <p:nvCxnSpPr>
          <p:cNvPr id="112" name="直接箭头连接符 111">
            <a:extLst>
              <a:ext uri="{FF2B5EF4-FFF2-40B4-BE49-F238E27FC236}">
                <a16:creationId xmlns:a16="http://schemas.microsoft.com/office/drawing/2014/main" id="{E08EE28E-125E-4342-85EC-6232388AB797}"/>
              </a:ext>
            </a:extLst>
          </p:cNvPr>
          <p:cNvCxnSpPr>
            <a:cxnSpLocks/>
          </p:cNvCxnSpPr>
          <p:nvPr/>
        </p:nvCxnSpPr>
        <p:spPr>
          <a:xfrm>
            <a:off x="6393522" y="3133934"/>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矩形 112">
            <a:extLst>
              <a:ext uri="{FF2B5EF4-FFF2-40B4-BE49-F238E27FC236}">
                <a16:creationId xmlns:a16="http://schemas.microsoft.com/office/drawing/2014/main" id="{FA69C4DC-1279-4E06-B799-138D7B19028C}"/>
              </a:ext>
            </a:extLst>
          </p:cNvPr>
          <p:cNvSpPr/>
          <p:nvPr/>
        </p:nvSpPr>
        <p:spPr>
          <a:xfrm>
            <a:off x="7914026" y="3527925"/>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6981948E-27F4-440E-989C-12EA0646EFB6}"/>
              </a:ext>
            </a:extLst>
          </p:cNvPr>
          <p:cNvSpPr txBox="1"/>
          <p:nvPr/>
        </p:nvSpPr>
        <p:spPr>
          <a:xfrm>
            <a:off x="7871915" y="3559022"/>
            <a:ext cx="1546055" cy="307777"/>
          </a:xfrm>
          <a:prstGeom prst="rect">
            <a:avLst/>
          </a:prstGeom>
          <a:noFill/>
        </p:spPr>
        <p:txBody>
          <a:bodyPr wrap="square" rtlCol="0">
            <a:spAutoFit/>
          </a:bodyPr>
          <a:lstStyle/>
          <a:p>
            <a:r>
              <a:rPr lang="zh-CN" altLang="en-US" sz="1400" dirty="0"/>
              <a:t>     </a:t>
            </a:r>
            <a:r>
              <a:rPr lang="en-US" altLang="zh-CN" sz="1400" dirty="0"/>
              <a:t>4</a:t>
            </a:r>
            <a:r>
              <a:rPr lang="zh-CN" altLang="en-US" sz="1400" dirty="0"/>
              <a:t>个特征向量</a:t>
            </a:r>
          </a:p>
        </p:txBody>
      </p:sp>
      <p:cxnSp>
        <p:nvCxnSpPr>
          <p:cNvPr id="115" name="直接箭头连接符 114">
            <a:extLst>
              <a:ext uri="{FF2B5EF4-FFF2-40B4-BE49-F238E27FC236}">
                <a16:creationId xmlns:a16="http://schemas.microsoft.com/office/drawing/2014/main" id="{8802744D-1F43-4753-8CD5-FB45DCFDD6E4}"/>
              </a:ext>
            </a:extLst>
          </p:cNvPr>
          <p:cNvCxnSpPr>
            <a:cxnSpLocks/>
          </p:cNvCxnSpPr>
          <p:nvPr/>
        </p:nvCxnSpPr>
        <p:spPr>
          <a:xfrm>
            <a:off x="8598815" y="3173866"/>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矩形 115">
            <a:extLst>
              <a:ext uri="{FF2B5EF4-FFF2-40B4-BE49-F238E27FC236}">
                <a16:creationId xmlns:a16="http://schemas.microsoft.com/office/drawing/2014/main" id="{37ACC320-FA6E-4F16-BC04-A045E778FB0D}"/>
              </a:ext>
            </a:extLst>
          </p:cNvPr>
          <p:cNvSpPr/>
          <p:nvPr/>
        </p:nvSpPr>
        <p:spPr>
          <a:xfrm>
            <a:off x="10688056" y="4198887"/>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文本框 116">
            <a:extLst>
              <a:ext uri="{FF2B5EF4-FFF2-40B4-BE49-F238E27FC236}">
                <a16:creationId xmlns:a16="http://schemas.microsoft.com/office/drawing/2014/main" id="{920E8F21-40E1-4990-AE81-6362D94CAA0B}"/>
              </a:ext>
            </a:extLst>
          </p:cNvPr>
          <p:cNvSpPr txBox="1"/>
          <p:nvPr/>
        </p:nvSpPr>
        <p:spPr>
          <a:xfrm>
            <a:off x="10645945" y="4229984"/>
            <a:ext cx="1546055" cy="307777"/>
          </a:xfrm>
          <a:prstGeom prst="rect">
            <a:avLst/>
          </a:prstGeom>
          <a:noFill/>
        </p:spPr>
        <p:txBody>
          <a:bodyPr wrap="square" rtlCol="0">
            <a:spAutoFit/>
          </a:bodyPr>
          <a:lstStyle/>
          <a:p>
            <a:r>
              <a:rPr lang="zh-CN" altLang="en-US" sz="1400" dirty="0"/>
              <a:t>    </a:t>
            </a:r>
            <a:r>
              <a:rPr lang="en-US" altLang="zh-CN" sz="1400" dirty="0"/>
              <a:t>4</a:t>
            </a:r>
            <a:r>
              <a:rPr lang="zh-CN" altLang="en-US" sz="1400" dirty="0"/>
              <a:t>个特征向量</a:t>
            </a:r>
          </a:p>
        </p:txBody>
      </p:sp>
      <p:cxnSp>
        <p:nvCxnSpPr>
          <p:cNvPr id="118" name="直接箭头连接符 117">
            <a:extLst>
              <a:ext uri="{FF2B5EF4-FFF2-40B4-BE49-F238E27FC236}">
                <a16:creationId xmlns:a16="http://schemas.microsoft.com/office/drawing/2014/main" id="{BEE8C6A0-BA37-47E5-883C-ABA3423AF46B}"/>
              </a:ext>
            </a:extLst>
          </p:cNvPr>
          <p:cNvCxnSpPr>
            <a:cxnSpLocks/>
          </p:cNvCxnSpPr>
          <p:nvPr/>
        </p:nvCxnSpPr>
        <p:spPr>
          <a:xfrm>
            <a:off x="11372845" y="3844828"/>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连接符: 肘形 119">
            <a:extLst>
              <a:ext uri="{FF2B5EF4-FFF2-40B4-BE49-F238E27FC236}">
                <a16:creationId xmlns:a16="http://schemas.microsoft.com/office/drawing/2014/main" id="{99436530-2D8D-4868-9983-DA1EE97FCA98}"/>
              </a:ext>
            </a:extLst>
          </p:cNvPr>
          <p:cNvCxnSpPr>
            <a:cxnSpLocks/>
            <a:stCxn id="111" idx="2"/>
            <a:endCxn id="121" idx="0"/>
          </p:cNvCxnSpPr>
          <p:nvPr/>
        </p:nvCxnSpPr>
        <p:spPr>
          <a:xfrm rot="16200000" flipH="1">
            <a:off x="7056129" y="3210387"/>
            <a:ext cx="919184" cy="215214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矩形 120">
            <a:extLst>
              <a:ext uri="{FF2B5EF4-FFF2-40B4-BE49-F238E27FC236}">
                <a16:creationId xmlns:a16="http://schemas.microsoft.com/office/drawing/2014/main" id="{966D3CC3-3D13-4D8A-97BF-03D4B07792E3}"/>
              </a:ext>
            </a:extLst>
          </p:cNvPr>
          <p:cNvSpPr/>
          <p:nvPr/>
        </p:nvSpPr>
        <p:spPr>
          <a:xfrm>
            <a:off x="7855860" y="4746051"/>
            <a:ext cx="1471866"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文本框 121">
            <a:extLst>
              <a:ext uri="{FF2B5EF4-FFF2-40B4-BE49-F238E27FC236}">
                <a16:creationId xmlns:a16="http://schemas.microsoft.com/office/drawing/2014/main" id="{69C802FE-1992-4BBF-893E-1218EFB8E176}"/>
              </a:ext>
            </a:extLst>
          </p:cNvPr>
          <p:cNvSpPr txBox="1"/>
          <p:nvPr/>
        </p:nvSpPr>
        <p:spPr>
          <a:xfrm>
            <a:off x="7813749" y="4777148"/>
            <a:ext cx="1546055" cy="307777"/>
          </a:xfrm>
          <a:prstGeom prst="rect">
            <a:avLst/>
          </a:prstGeom>
          <a:noFill/>
        </p:spPr>
        <p:txBody>
          <a:bodyPr wrap="square" rtlCol="0">
            <a:spAutoFit/>
          </a:bodyPr>
          <a:lstStyle/>
          <a:p>
            <a:r>
              <a:rPr lang="zh-CN" altLang="en-US" sz="1400" dirty="0"/>
              <a:t>    等度量映射</a:t>
            </a:r>
          </a:p>
        </p:txBody>
      </p:sp>
      <p:cxnSp>
        <p:nvCxnSpPr>
          <p:cNvPr id="128" name="连接符: 肘形 127">
            <a:extLst>
              <a:ext uri="{FF2B5EF4-FFF2-40B4-BE49-F238E27FC236}">
                <a16:creationId xmlns:a16="http://schemas.microsoft.com/office/drawing/2014/main" id="{098D2D81-B329-48F8-A07A-BBA77683DF8C}"/>
              </a:ext>
            </a:extLst>
          </p:cNvPr>
          <p:cNvCxnSpPr>
            <a:cxnSpLocks/>
            <a:stCxn id="117" idx="2"/>
            <a:endCxn id="121" idx="0"/>
          </p:cNvCxnSpPr>
          <p:nvPr/>
        </p:nvCxnSpPr>
        <p:spPr>
          <a:xfrm rot="5400000">
            <a:off x="9901238" y="3228316"/>
            <a:ext cx="208290" cy="28271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a:extLst>
              <a:ext uri="{FF2B5EF4-FFF2-40B4-BE49-F238E27FC236}">
                <a16:creationId xmlns:a16="http://schemas.microsoft.com/office/drawing/2014/main" id="{1B209D2B-B5DD-406E-963D-46BB39FB7F83}"/>
              </a:ext>
            </a:extLst>
          </p:cNvPr>
          <p:cNvCxnSpPr>
            <a:cxnSpLocks/>
            <a:endCxn id="121" idx="0"/>
          </p:cNvCxnSpPr>
          <p:nvPr/>
        </p:nvCxnSpPr>
        <p:spPr>
          <a:xfrm flipH="1">
            <a:off x="8591793" y="3881791"/>
            <a:ext cx="502" cy="864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3" name="矩形 132">
            <a:extLst>
              <a:ext uri="{FF2B5EF4-FFF2-40B4-BE49-F238E27FC236}">
                <a16:creationId xmlns:a16="http://schemas.microsoft.com/office/drawing/2014/main" id="{EAD63D65-83FE-4AC8-B3E6-AC1B37D1540A}"/>
              </a:ext>
            </a:extLst>
          </p:cNvPr>
          <p:cNvSpPr/>
          <p:nvPr/>
        </p:nvSpPr>
        <p:spPr>
          <a:xfrm>
            <a:off x="7426739" y="5387218"/>
            <a:ext cx="2604337"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框 133">
            <a:extLst>
              <a:ext uri="{FF2B5EF4-FFF2-40B4-BE49-F238E27FC236}">
                <a16:creationId xmlns:a16="http://schemas.microsoft.com/office/drawing/2014/main" id="{513D767B-DA96-482D-8ED1-F902D4AC7F76}"/>
              </a:ext>
            </a:extLst>
          </p:cNvPr>
          <p:cNvSpPr txBox="1"/>
          <p:nvPr/>
        </p:nvSpPr>
        <p:spPr>
          <a:xfrm>
            <a:off x="7384629" y="5418315"/>
            <a:ext cx="2646448" cy="307777"/>
          </a:xfrm>
          <a:prstGeom prst="rect">
            <a:avLst/>
          </a:prstGeom>
          <a:noFill/>
        </p:spPr>
        <p:txBody>
          <a:bodyPr wrap="square" rtlCol="0">
            <a:spAutoFit/>
          </a:bodyPr>
          <a:lstStyle/>
          <a:p>
            <a:r>
              <a:rPr lang="zh-CN" altLang="en-US" sz="1400" dirty="0"/>
              <a:t>    非线性支持向量机学习算法</a:t>
            </a:r>
          </a:p>
        </p:txBody>
      </p:sp>
      <p:cxnSp>
        <p:nvCxnSpPr>
          <p:cNvPr id="135" name="直接箭头连接符 134">
            <a:extLst>
              <a:ext uri="{FF2B5EF4-FFF2-40B4-BE49-F238E27FC236}">
                <a16:creationId xmlns:a16="http://schemas.microsoft.com/office/drawing/2014/main" id="{E9CD747C-40E9-41CE-A1E8-B4DB6597DDCB}"/>
              </a:ext>
            </a:extLst>
          </p:cNvPr>
          <p:cNvCxnSpPr>
            <a:cxnSpLocks/>
          </p:cNvCxnSpPr>
          <p:nvPr/>
        </p:nvCxnSpPr>
        <p:spPr>
          <a:xfrm>
            <a:off x="8570224" y="5084925"/>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6" name="矩形 135">
            <a:extLst>
              <a:ext uri="{FF2B5EF4-FFF2-40B4-BE49-F238E27FC236}">
                <a16:creationId xmlns:a16="http://schemas.microsoft.com/office/drawing/2014/main" id="{990E2F63-FA19-472A-9207-486DAF95BF1F}"/>
              </a:ext>
            </a:extLst>
          </p:cNvPr>
          <p:cNvSpPr/>
          <p:nvPr/>
        </p:nvSpPr>
        <p:spPr>
          <a:xfrm>
            <a:off x="7427243" y="6026042"/>
            <a:ext cx="2604337" cy="35405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文本框 136">
            <a:extLst>
              <a:ext uri="{FF2B5EF4-FFF2-40B4-BE49-F238E27FC236}">
                <a16:creationId xmlns:a16="http://schemas.microsoft.com/office/drawing/2014/main" id="{4F8EDD89-79D5-492D-9858-AD9ABA43B54D}"/>
              </a:ext>
            </a:extLst>
          </p:cNvPr>
          <p:cNvSpPr txBox="1"/>
          <p:nvPr/>
        </p:nvSpPr>
        <p:spPr>
          <a:xfrm>
            <a:off x="7385133" y="6057139"/>
            <a:ext cx="2646448" cy="307777"/>
          </a:xfrm>
          <a:prstGeom prst="rect">
            <a:avLst/>
          </a:prstGeom>
          <a:noFill/>
        </p:spPr>
        <p:txBody>
          <a:bodyPr wrap="square" rtlCol="0">
            <a:spAutoFit/>
          </a:bodyPr>
          <a:lstStyle/>
          <a:p>
            <a:r>
              <a:rPr lang="zh-CN" altLang="en-US" sz="1400" dirty="0"/>
              <a:t>          分类决策函数</a:t>
            </a:r>
          </a:p>
        </p:txBody>
      </p:sp>
      <p:cxnSp>
        <p:nvCxnSpPr>
          <p:cNvPr id="138" name="直接箭头连接符 137">
            <a:extLst>
              <a:ext uri="{FF2B5EF4-FFF2-40B4-BE49-F238E27FC236}">
                <a16:creationId xmlns:a16="http://schemas.microsoft.com/office/drawing/2014/main" id="{CA2972B9-126F-416E-8C24-50FE05FC0B54}"/>
              </a:ext>
            </a:extLst>
          </p:cNvPr>
          <p:cNvCxnSpPr>
            <a:cxnSpLocks/>
          </p:cNvCxnSpPr>
          <p:nvPr/>
        </p:nvCxnSpPr>
        <p:spPr>
          <a:xfrm>
            <a:off x="8570728" y="5723749"/>
            <a:ext cx="0" cy="35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09206C78-053B-4B39-B3DA-F703FCFDF183}"/>
              </a:ext>
            </a:extLst>
          </p:cNvPr>
          <p:cNvCxnSpPr>
            <a:stCxn id="12" idx="3"/>
            <a:endCxn id="137" idx="1"/>
          </p:cNvCxnSpPr>
          <p:nvPr/>
        </p:nvCxnSpPr>
        <p:spPr>
          <a:xfrm flipV="1">
            <a:off x="3951119" y="6211028"/>
            <a:ext cx="3434014" cy="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3" name="矩形 152">
            <a:extLst>
              <a:ext uri="{FF2B5EF4-FFF2-40B4-BE49-F238E27FC236}">
                <a16:creationId xmlns:a16="http://schemas.microsoft.com/office/drawing/2014/main" id="{99C13E5B-5EE4-4636-8A38-F07AC211287B}"/>
              </a:ext>
            </a:extLst>
          </p:cNvPr>
          <p:cNvSpPr/>
          <p:nvPr/>
        </p:nvSpPr>
        <p:spPr>
          <a:xfrm>
            <a:off x="10854240" y="4929260"/>
            <a:ext cx="1126958" cy="192874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箭头连接符 155">
            <a:extLst>
              <a:ext uri="{FF2B5EF4-FFF2-40B4-BE49-F238E27FC236}">
                <a16:creationId xmlns:a16="http://schemas.microsoft.com/office/drawing/2014/main" id="{C8E9A827-9D2F-4B4D-AAA2-C60B0A2C5323}"/>
              </a:ext>
            </a:extLst>
          </p:cNvPr>
          <p:cNvCxnSpPr>
            <a:cxnSpLocks/>
            <a:stCxn id="137" idx="3"/>
          </p:cNvCxnSpPr>
          <p:nvPr/>
        </p:nvCxnSpPr>
        <p:spPr>
          <a:xfrm>
            <a:off x="10031581" y="6211028"/>
            <a:ext cx="8226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矩形 167">
            <a:extLst>
              <a:ext uri="{FF2B5EF4-FFF2-40B4-BE49-F238E27FC236}">
                <a16:creationId xmlns:a16="http://schemas.microsoft.com/office/drawing/2014/main" id="{C2728584-2436-4517-A0B8-B9CD5783772A}"/>
              </a:ext>
            </a:extLst>
          </p:cNvPr>
          <p:cNvSpPr/>
          <p:nvPr/>
        </p:nvSpPr>
        <p:spPr>
          <a:xfrm>
            <a:off x="10855494" y="4929259"/>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a:extLst>
              <a:ext uri="{FF2B5EF4-FFF2-40B4-BE49-F238E27FC236}">
                <a16:creationId xmlns:a16="http://schemas.microsoft.com/office/drawing/2014/main" id="{14F994A8-C365-4E3F-A4D4-4B0763BF0512}"/>
              </a:ext>
            </a:extLst>
          </p:cNvPr>
          <p:cNvSpPr/>
          <p:nvPr/>
        </p:nvSpPr>
        <p:spPr>
          <a:xfrm>
            <a:off x="10859003" y="5570144"/>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文本框 170">
            <a:extLst>
              <a:ext uri="{FF2B5EF4-FFF2-40B4-BE49-F238E27FC236}">
                <a16:creationId xmlns:a16="http://schemas.microsoft.com/office/drawing/2014/main" id="{15E6EA6D-D453-4EA3-B6B4-D58F9D541C29}"/>
              </a:ext>
            </a:extLst>
          </p:cNvPr>
          <p:cNvSpPr txBox="1"/>
          <p:nvPr/>
        </p:nvSpPr>
        <p:spPr>
          <a:xfrm>
            <a:off x="10935717" y="5742809"/>
            <a:ext cx="919913" cy="307777"/>
          </a:xfrm>
          <a:prstGeom prst="rect">
            <a:avLst/>
          </a:prstGeom>
          <a:noFill/>
        </p:spPr>
        <p:txBody>
          <a:bodyPr wrap="square" rtlCol="0">
            <a:spAutoFit/>
          </a:bodyPr>
          <a:lstStyle/>
          <a:p>
            <a:r>
              <a:rPr lang="zh-CN" altLang="en-US" sz="1400" dirty="0"/>
              <a:t>混淆矩阵</a:t>
            </a:r>
          </a:p>
        </p:txBody>
      </p:sp>
      <p:sp>
        <p:nvSpPr>
          <p:cNvPr id="172" name="矩形 171">
            <a:extLst>
              <a:ext uri="{FF2B5EF4-FFF2-40B4-BE49-F238E27FC236}">
                <a16:creationId xmlns:a16="http://schemas.microsoft.com/office/drawing/2014/main" id="{406C0ECF-3ED5-4A3B-BE66-48D2D76CE45A}"/>
              </a:ext>
            </a:extLst>
          </p:cNvPr>
          <p:cNvSpPr/>
          <p:nvPr/>
        </p:nvSpPr>
        <p:spPr>
          <a:xfrm>
            <a:off x="10849477" y="6217105"/>
            <a:ext cx="1126958" cy="6463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文本框 172">
            <a:extLst>
              <a:ext uri="{FF2B5EF4-FFF2-40B4-BE49-F238E27FC236}">
                <a16:creationId xmlns:a16="http://schemas.microsoft.com/office/drawing/2014/main" id="{1FD3AFDD-C179-4670-9EF8-1458E9FC712B}"/>
              </a:ext>
            </a:extLst>
          </p:cNvPr>
          <p:cNvSpPr txBox="1"/>
          <p:nvPr/>
        </p:nvSpPr>
        <p:spPr>
          <a:xfrm>
            <a:off x="10849477" y="6355605"/>
            <a:ext cx="1126958" cy="307777"/>
          </a:xfrm>
          <a:prstGeom prst="rect">
            <a:avLst/>
          </a:prstGeom>
          <a:noFill/>
        </p:spPr>
        <p:txBody>
          <a:bodyPr wrap="square" rtlCol="0">
            <a:spAutoFit/>
          </a:bodyPr>
          <a:lstStyle/>
          <a:p>
            <a:r>
              <a:rPr lang="en-US" altLang="zh-CN" sz="1400" dirty="0"/>
              <a:t>ROC</a:t>
            </a:r>
            <a:r>
              <a:rPr lang="zh-CN" altLang="en-US" sz="1400" dirty="0"/>
              <a:t>，</a:t>
            </a:r>
            <a:r>
              <a:rPr lang="en-US" altLang="zh-CN" sz="1400" dirty="0"/>
              <a:t>AUC</a:t>
            </a:r>
            <a:endParaRPr lang="zh-CN" altLang="en-US" sz="1400" dirty="0"/>
          </a:p>
        </p:txBody>
      </p:sp>
      <p:sp>
        <p:nvSpPr>
          <p:cNvPr id="174" name="文本框 173">
            <a:extLst>
              <a:ext uri="{FF2B5EF4-FFF2-40B4-BE49-F238E27FC236}">
                <a16:creationId xmlns:a16="http://schemas.microsoft.com/office/drawing/2014/main" id="{853A9B94-7713-4125-A971-4A3421CB7682}"/>
              </a:ext>
            </a:extLst>
          </p:cNvPr>
          <p:cNvSpPr txBox="1"/>
          <p:nvPr/>
        </p:nvSpPr>
        <p:spPr>
          <a:xfrm>
            <a:off x="10883808" y="5069356"/>
            <a:ext cx="1126958" cy="307777"/>
          </a:xfrm>
          <a:prstGeom prst="rect">
            <a:avLst/>
          </a:prstGeom>
          <a:noFill/>
        </p:spPr>
        <p:txBody>
          <a:bodyPr wrap="square" rtlCol="0">
            <a:spAutoFit/>
          </a:bodyPr>
          <a:lstStyle/>
          <a:p>
            <a:r>
              <a:rPr lang="zh-CN" altLang="en-US" sz="1400" dirty="0"/>
              <a:t>错误率精度</a:t>
            </a:r>
          </a:p>
        </p:txBody>
      </p:sp>
    </p:spTree>
    <p:extLst>
      <p:ext uri="{BB962C8B-B14F-4D97-AF65-F5344CB8AC3E}">
        <p14:creationId xmlns:p14="http://schemas.microsoft.com/office/powerpoint/2010/main" val="1875998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TotalTime>
  <Words>2194</Words>
  <Application>Microsoft Office PowerPoint</Application>
  <PresentationFormat>宽屏</PresentationFormat>
  <Paragraphs>158</Paragraphs>
  <Slides>14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等线</vt:lpstr>
      <vt:lpstr>等线 Light</vt:lpstr>
      <vt:lpstr>微软雅黑</vt:lpstr>
      <vt:lpstr>Arial</vt:lpstr>
      <vt:lpstr>Cambria Math</vt:lpstr>
      <vt:lpstr>Office 主题​​</vt:lpstr>
      <vt:lpstr>PowerPoint 演示文稿</vt:lpstr>
      <vt:lpstr>PowerPoint 演示文稿</vt:lpstr>
      <vt:lpstr>数据的预处理</vt:lpstr>
      <vt:lpstr>PowerPoint 演示文稿</vt:lpstr>
      <vt:lpstr>特征提取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fourous Liu</dc:creator>
  <cp:lastModifiedBy>fourous Liu</cp:lastModifiedBy>
  <cp:revision>58</cp:revision>
  <dcterms:created xsi:type="dcterms:W3CDTF">2019-02-25T04:57:11Z</dcterms:created>
  <dcterms:modified xsi:type="dcterms:W3CDTF">2019-02-25T15:01:49Z</dcterms:modified>
</cp:coreProperties>
</file>